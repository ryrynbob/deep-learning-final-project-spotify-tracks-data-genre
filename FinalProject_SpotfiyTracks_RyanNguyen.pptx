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Play"/>
      <p:regular r:id="rId23"/>
      <p:bold r:id="rId24"/>
    </p:embeddedFont>
    <p:embeddedFont>
      <p:font typeface="ADLaM Display"/>
      <p:regular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gXZpsZcBax2IItv18wV2hK2TUx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lay-bold.fntdata"/><Relationship Id="rId23" Type="http://schemas.openxmlformats.org/officeDocument/2006/relationships/font" Target="fonts/Play-regular.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ADLaMDisplay-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"Does a song stop being Jazz just because it has an Electronic beat?"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"We’ve spent decades forcing music into boxes—Rock, Pop, Classical. But music doesn't live in a box; it lives on a spectrum. Today, I’m going to show you how we moved from 'predicting labels' to decoding the Music DNA—proving that a song isn't just one thing, but a signature of overlapping affinities."</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How project evolved from simple genre classifier into a more interpretable music-DNA framework. Started with spotify audio features like danceability, acoustiness, energy, speechiness, and valence. Central question became: do these raw audio features naturally support 8 broad genre families, or do genres overlap so much that a rigid one-label system is musically unrealistic? Not just classifying but decoding Music DNA. Audio features are like nucleotides of music.</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9aa940fff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9aa940ff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Allows model to capture complex, non-linear relationships </a:t>
            </a:r>
            <a:r>
              <a:rPr lang="en-US"/>
              <a:t>between audio features- like how high energy and low acousticness interact differently in Rock than Electronic. Batch is internal regulator like thermostat for neural network, normalize the inputs between layers, model trains fast and efficient. Prevents gradients from exploding or vanishing, keeping math stable. Dropout generalizers against accuracy trap, turning off 30% of neurons during training that force model to learn multiple ways to identify genre (primary defense against memorizing dominant class). Prevents from memorizing “other/indie” majority class only. Start with 512 nodes. Bottleneck distills information, by time data reaches layer model has filtered out noise and looking at most essential genetic markers of song.521K total parameters, half a million tunable knobs, only takes up 1.99 MB which makes model deployable and lightweight, can run on mobile device with spotify without massive server power. 1536 non-trainable params belong to Batch Normalization layers. Are the “running means” model keeps to ensure stability. Accuracy is a vanity metric in imbalance data. Maximizes Macro F1 Score. Chasing interpretable intelligence.</a:t>
            </a:r>
            <a:endParaRPr/>
          </a:p>
          <a:p>
            <a:pPr indent="0" lvl="0" marL="0" rtl="0" algn="l">
              <a:spcBef>
                <a:spcPts val="0"/>
              </a:spcBef>
              <a:spcAft>
                <a:spcPts val="0"/>
              </a:spcAft>
              <a:buNone/>
            </a:pPr>
            <a:r>
              <a:rPr lang="en-US"/>
              <a:t>Binary focal crossentropy with gamma = 2, forcing model to focus on ‘hard examples’ - rare genres like Hip-Hop while down-weighting easy majority class. Tune sensitivity for each of the 8 genre families to maximize F1-score.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Network trains stably over 20 epochs, but good convergence alone does not mean model is useful, because imbalance can still inflate the metric. Sankey diagram shows the taxonomy transparent. Instead of modeling 114 noisy labels directly, I grouped them into Acoustic/Folk, Blues/Jazz, Classical, Electronic, Hip-Hop/Rap, Other/Indie, Pop, and Rock. That gave me a cleaner structure while still preserving the diversity of the Spotify dataset. This is foundational because it defines the target space I’m evaluating.</a:t>
            </a:r>
            <a:endParaRPr/>
          </a:p>
        </p:txBody>
      </p:sp>
      <p:sp>
        <p:nvSpPr>
          <p:cNvPr id="118" name="Google Shape;11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870af222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870af22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Model maintains 0.45 day over day, it has learned generalized audio DNA rather than overfitting to specific batch of songs. Based on the table below that, we can see the model is 98% confident on “pure” electronic tracks, identifying tracks with less than 0.00001 margin </a:t>
            </a:r>
            <a:r>
              <a:rPr lang="en-US"/>
              <a:t>between</a:t>
            </a:r>
            <a:r>
              <a:rPr lang="en-US"/>
              <a:t> Pop and Indie. Seeing the test song, the model saw a near-perfect tie between Pop and Indie. In the softmax model, this would be a ‘wrong’ guess. In the Sigmoid model, this is a successful identification of a crossover track. Our architecture isn’t just a stack of layers, it’s a filtration system that captures complexity of the 114-sub genres and narrow down to 128-node latent representation.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When shuffled labels randomly, accuracy stayed at 82%, proving model wasn’t learning music - just learning probability of the majority class. 0.5 threshold too high need to change, baseline model had 0% recall for Rock. Distinguish between initial baseline exploiting majority class (inflated accuracy) and label permutation test on final model (dropped to 25%, proving final 43% model is learning genuine patterns).</a:t>
            </a:r>
            <a:endParaRPr/>
          </a:p>
        </p:txBody>
      </p:sp>
      <p:sp>
        <p:nvSpPr>
          <p:cNvPr id="137" name="Google Shape;13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6ffe41f67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6ffe41f6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My first model appeared successful because it reached about 82% accuracy. But after permuting the labels and retraining, it still reached roughly the same accuracy. That was the smoking gun. The model had learned the label distribution, not audio signal. Mostly predicting the dominant Other/Indie bucket. But now you see with the new model it has increasing similar accuracy trend for test/train, but low validation model loss but high training model loss accuracy. The Other/Indie genre isn’t as overpowering anymore so more variation with the genres from confusion </a:t>
            </a:r>
            <a:r>
              <a:rPr lang="en-US"/>
              <a:t>matrix. Precision went down but recall went up. F1 score also went up with more support, so model is more balanced. But overall precision and recall increased regardless.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6ffe41f67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6ffe41f6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This was the main conceptual pivot. Softmax is appropriate when classes are mutually exclusive and must sum to one. But based on our results, unsupervised evidence points otherwise since songs not </a:t>
            </a:r>
            <a:r>
              <a:rPr lang="en-US"/>
              <a:t>naturally</a:t>
            </a:r>
            <a:r>
              <a:rPr lang="en-US"/>
              <a:t> separated into strict boxes in raw audio space. Track can sound partially. Moved to sigmoid outputs, where each of the 8 genre families is scored independently. So model predicts affinities rather than enforcing rigid label. Schematic of final network with compression from 512 to 256 to 128 nodes, which forces model to learn dense representation of audio before outputting 8 independent sigmoid probabilities. Softmax forces winner takes all box. Sigmoid allows for polygenic scoring that a song can have genes for multiple genres. Bridge to mindful discovery.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6bb8e3a94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6bb8e3a9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These plots answer one of the biggest questions: If labels are ignored and only look at audio, do the 8 clean </a:t>
            </a:r>
            <a:r>
              <a:rPr lang="en-US"/>
              <a:t>clustered</a:t>
            </a:r>
            <a:r>
              <a:rPr lang="en-US"/>
              <a:t> emerge? No, not perfectly. Some structure, but substantial overlap remains. That is useful to know. Suggests human genre families are only partially recoverable from low-dimensional audio features. So unsupervised analysis supports the idea that genre boundaries are fuzzy than absolute. No 8 natural clusters. But you can see somewhat of a separation between the classes and more variance compared to the first run. Some outliers noted.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6bb8e3a94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d6bb8e3a9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Final unsupervised setup. Network takes 12 scaled audio features and outputs 8 sigmoid scores. Used focal-style imbalance - aware setup plus threshold tuning to push the model to care about minority genres. Training curve shows steady convergence and no catastrophic divergence between training and validation. Key difference from earlier model is one is not rewarded for simply guessing majority class. Model seems to be more stable.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instead of global 0.5 threshold, maximized F1-score for each genre family on held-out validation set, lowering bar for </a:t>
            </a:r>
            <a:r>
              <a:rPr lang="en-US"/>
              <a:t>minority</a:t>
            </a:r>
            <a:r>
              <a:rPr lang="en-US"/>
              <a:t> genres like rock and hip hop, which had been prev ignored. Headline accuracy only 43%, actually progress because permuted baseline is 25%, so model is now learning genuine audio-label association. More, macro F1 is around 0.44 and recall is much stronger across multiple minority genres. Hip-Hop/Rap recall is 0.56, Pop recall is 0.75, and Rock recall is 0.65. This is a much better model than the earlier 82% system because it is actually distinguishing genres rather than collapsing everything into Other/Indie.With the 99.9% match, we can say from results even though accuracy dropped that model is not lazy and actually tries to predict majority class, focal loss forced model to work harder on rare genres. 128-node bottleneck acts like a filter that strips away production noise to find the core musical structure.</a:t>
            </a:r>
            <a:endParaRPr/>
          </a:p>
        </p:txBody>
      </p:sp>
      <p:sp>
        <p:nvSpPr>
          <p:cNvPr id="177" name="Google Shape;17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6bb8e3a9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d6bb8e3a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unsupervised structure does not </a:t>
            </a:r>
            <a:r>
              <a:rPr lang="en-US"/>
              <a:t>recover</a:t>
            </a:r>
            <a:r>
              <a:rPr lang="en-US"/>
              <a:t> 8 perfectly separated islands. Suggesting human genre taxonomy only partially aligns with audio feature geometry. Partial grouping with substantial bleed across classes. Suggests audio features don’t support rigid mutually exclusive. Multi-label probabilities should not be thresholded at 0.5. Different genres have different operating points. Score distribution varies by genre. Tuned thresholds per class using validation set. Pop worked best around 0.33, etc. Helped rescue recall for minority and harder classes. Boxplot makes logic visible: each genre family has a different confidence distribution, so a one-size-fits-all threshold is not optimal. Increased our Macro F1 and real-world </a:t>
            </a:r>
            <a:r>
              <a:rPr lang="en-US"/>
              <a:t>intelligence</a:t>
            </a:r>
            <a:r>
              <a:rPr lang="en-US"/>
              <a:t> with this change.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6ffe41f67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d6ffe41f6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SHAP lets me move from black-box classifier to an interpretable model. Features are ranked from top to bottom based on their total impact on the model. High value at red or low value at blue for a feature pushes the prediction. Acousticness being high is a strong indicator of a certain genre.This plot shows which raw audio features are pushing predictions up or down. Acousticness is a strong positive driver for Acoustic/Folk, while danceability, speechiness, and energy shape the boundary differently for other classes. That matters because it shows the model is using musically plausible signals rather than only exploiting imbalance. Shift from engineer to interpreter. So acousticness of a song would best predict what kind of genre it would be, but also the other features play a factor.</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6ffe41f67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d6ffe41f6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6ffe41f67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d6ffe41f6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Applied AI tool: True label is Blues/Jazz, but model can detect strong Electronic and Pop traits. Musically reasonable for modern crossover tracks. So instead of forcing a single rigid label, model can produce a richer DNA-like profile. Opens the door to finding hidden gems: tracks whose official label may not match their deeper audio signature. Great study to analyze and evaluate everything. It is interpretable intelligence which is how Spotify finds hidden gems.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6bb8e3a94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d6bb8e3a9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 loss function that down-weights ‘easy’ examples like Indie and increases importance of ‘hard’ misclassified examples like Rock is mathematically expressed as (1 - p_1)^</a:t>
            </a:r>
            <a:endParaRPr/>
          </a:p>
          <a:p>
            <a:pPr indent="0" lvl="0" marL="0" rtl="0" algn="l">
              <a:spcBef>
                <a:spcPts val="0"/>
              </a:spcBef>
              <a:spcAft>
                <a:spcPts val="0"/>
              </a:spcAft>
              <a:buNone/>
            </a:pPr>
            <a:r>
              <a:rPr lang="en-US"/>
              <a:t>Not perfect final model. Children, comedy, indie-pop, indie, spanish - some unmapped sub-genres. 8-family taxonomy is useful, but still imperfect. Future work would include refining family mapping, testing autoencoder bottleneck directly as classifier input, and further improving imbalance handling through focal loss variants, label-aware batching, or taxonomy redesign. Tie to 7-day simulation, not just school project but deployable framework so the music therapists and independent artists can find proper audiences. The data </a:t>
            </a:r>
            <a:r>
              <a:rPr lang="en-US"/>
              <a:t>science</a:t>
            </a:r>
            <a:r>
              <a:rPr lang="en-US"/>
              <a:t> isn’t about translation- but translating raw signals into human feelings.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8" name="Google Shape;3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8"/>
          <p:cNvSpPr/>
          <p:nvPr>
            <p:ph idx="2" type="pic"/>
          </p:nvPr>
        </p:nvSpPr>
        <p:spPr>
          <a:xfrm>
            <a:off x="5183188" y="987425"/>
            <a:ext cx="6172200" cy="4873625"/>
          </a:xfrm>
          <a:prstGeom prst="rect">
            <a:avLst/>
          </a:prstGeom>
          <a:noFill/>
          <a:ln>
            <a:noFill/>
          </a:ln>
        </p:spPr>
      </p:sp>
      <p:sp>
        <p:nvSpPr>
          <p:cNvPr id="76" name="Google Shape;76;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2.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F0F2F5"/>
            </a:gs>
          </a:gsLst>
          <a:lin ang="0" scaled="0"/>
        </a:gra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Play"/>
              <a:buNone/>
              <a:defRPr b="0" i="0" sz="4400" u="none" cap="none" strike="noStrik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8" name="Google Shape;8;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9" name="Google Shape;9;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0" name="Google Shape;1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Arial"/>
                <a:ea typeface="Arial"/>
                <a:cs typeface="Arial"/>
                <a:sym typeface="Arial"/>
              </a:defRPr>
            </a:lvl1pPr>
            <a:lvl2pPr indent="0" lvl="1" marL="0" marR="0" rtl="0" algn="r">
              <a:spcBef>
                <a:spcPts val="0"/>
              </a:spcBef>
              <a:buNone/>
              <a:defRPr b="0" i="0" sz="1200" u="none" cap="none" strike="noStrike">
                <a:solidFill>
                  <a:schemeClr val="lt1"/>
                </a:solidFill>
                <a:latin typeface="Arial"/>
                <a:ea typeface="Arial"/>
                <a:cs typeface="Arial"/>
                <a:sym typeface="Arial"/>
              </a:defRPr>
            </a:lvl2pPr>
            <a:lvl3pPr indent="0" lvl="2" marL="0" marR="0" rtl="0" algn="r">
              <a:spcBef>
                <a:spcPts val="0"/>
              </a:spcBef>
              <a:buNone/>
              <a:defRPr b="0" i="0" sz="1200" u="none" cap="none" strike="noStrike">
                <a:solidFill>
                  <a:schemeClr val="lt1"/>
                </a:solidFill>
                <a:latin typeface="Arial"/>
                <a:ea typeface="Arial"/>
                <a:cs typeface="Arial"/>
                <a:sym typeface="Arial"/>
              </a:defRPr>
            </a:lvl3pPr>
            <a:lvl4pPr indent="0" lvl="3" marL="0" marR="0" rtl="0" algn="r">
              <a:spcBef>
                <a:spcPts val="0"/>
              </a:spcBef>
              <a:buNone/>
              <a:defRPr b="0" i="0" sz="1200" u="none" cap="none" strike="noStrike">
                <a:solidFill>
                  <a:schemeClr val="lt1"/>
                </a:solidFill>
                <a:latin typeface="Arial"/>
                <a:ea typeface="Arial"/>
                <a:cs typeface="Arial"/>
                <a:sym typeface="Arial"/>
              </a:defRPr>
            </a:lvl4pPr>
            <a:lvl5pPr indent="0" lvl="4" marL="0" marR="0" rtl="0" algn="r">
              <a:spcBef>
                <a:spcPts val="0"/>
              </a:spcBef>
              <a:buNone/>
              <a:defRPr b="0" i="0" sz="1200" u="none" cap="none" strike="noStrike">
                <a:solidFill>
                  <a:schemeClr val="lt1"/>
                </a:solidFill>
                <a:latin typeface="Arial"/>
                <a:ea typeface="Arial"/>
                <a:cs typeface="Arial"/>
                <a:sym typeface="Arial"/>
              </a:defRPr>
            </a:lvl5pPr>
            <a:lvl6pPr indent="0" lvl="5" marL="0" marR="0" rtl="0" algn="r">
              <a:spcBef>
                <a:spcPts val="0"/>
              </a:spcBef>
              <a:buNone/>
              <a:defRPr b="0" i="0" sz="1200" u="none" cap="none" strike="noStrike">
                <a:solidFill>
                  <a:schemeClr val="lt1"/>
                </a:solidFill>
                <a:latin typeface="Arial"/>
                <a:ea typeface="Arial"/>
                <a:cs typeface="Arial"/>
                <a:sym typeface="Arial"/>
              </a:defRPr>
            </a:lvl6pPr>
            <a:lvl7pPr indent="0" lvl="6" marL="0" marR="0" rtl="0" algn="r">
              <a:spcBef>
                <a:spcPts val="0"/>
              </a:spcBef>
              <a:buNone/>
              <a:defRPr b="0" i="0" sz="1200" u="none" cap="none" strike="noStrike">
                <a:solidFill>
                  <a:schemeClr val="lt1"/>
                </a:solidFill>
                <a:latin typeface="Arial"/>
                <a:ea typeface="Arial"/>
                <a:cs typeface="Arial"/>
                <a:sym typeface="Arial"/>
              </a:defRPr>
            </a:lvl7pPr>
            <a:lvl8pPr indent="0" lvl="7" marL="0" marR="0" rtl="0" algn="r">
              <a:spcBef>
                <a:spcPts val="0"/>
              </a:spcBef>
              <a:buNone/>
              <a:defRPr b="0" i="0" sz="1200" u="none" cap="none" strike="noStrike">
                <a:solidFill>
                  <a:schemeClr val="lt1"/>
                </a:solidFill>
                <a:latin typeface="Arial"/>
                <a:ea typeface="Arial"/>
                <a:cs typeface="Arial"/>
                <a:sym typeface="Arial"/>
              </a:defRPr>
            </a:lvl8pPr>
            <a:lvl9pPr indent="0" lvl="8" marL="0" marR="0" rtl="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F0F2F5"/>
            </a:gs>
          </a:gsLst>
          <a:lin ang="0" scaled="0"/>
        </a:gradFill>
      </p:bgPr>
    </p:bg>
    <p:spTree>
      <p:nvGrpSpPr>
        <p:cNvPr id="17" name="Shape 17"/>
        <p:cNvGrpSpPr/>
        <p:nvPr/>
      </p:nvGrpSpPr>
      <p:grpSpPr>
        <a:xfrm>
          <a:off x="0" y="0"/>
          <a:ext cx="0" cy="0"/>
          <a:chOff x="0" y="0"/>
          <a:chExt cx="0" cy="0"/>
        </a:xfrm>
      </p:grpSpPr>
      <p:sp>
        <p:nvSpPr>
          <p:cNvPr id="18" name="Google Shape;1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 name="Google Shape;2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 name="Google Shape;2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2" name="Google Shape;2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8.png"/><Relationship Id="rId4" Type="http://schemas.openxmlformats.org/officeDocument/2006/relationships/image" Target="../media/image1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github.com/ryrynbob/ust-deep-learning-2026/blob/main/Week_4.13_Refinement_of_FinalProject_RyanNguyen_SpecialTopics.ipynb" TargetMode="External"/><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github.com/ryrynbob/ust-deep-learning-2026/blob/main/Latest_Refinement_(Week_3_Changes)_of_FinalProject_RyanNguyen_SpecialTopics_Sigmoid_Multi_(Binary_Focal).ipynb"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5" name="Shape 95"/>
        <p:cNvGrpSpPr/>
        <p:nvPr/>
      </p:nvGrpSpPr>
      <p:grpSpPr>
        <a:xfrm>
          <a:off x="0" y="0"/>
          <a:ext cx="0" cy="0"/>
          <a:chOff x="0" y="0"/>
          <a:chExt cx="0" cy="0"/>
        </a:xfrm>
      </p:grpSpPr>
      <p:sp>
        <p:nvSpPr>
          <p:cNvPr id="96" name="Google Shape;96;p1"/>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97" name="Google Shape;97;p1"/>
          <p:cNvPicPr preferRelativeResize="0"/>
          <p:nvPr/>
        </p:nvPicPr>
        <p:blipFill rotWithShape="1">
          <a:blip r:embed="rId3">
            <a:alphaModFix amt="50000"/>
          </a:blip>
          <a:srcRect b="25699" l="0" r="0" t="18051"/>
          <a:stretch/>
        </p:blipFill>
        <p:spPr>
          <a:xfrm>
            <a:off x="20" y="1"/>
            <a:ext cx="12191980" cy="6857999"/>
          </a:xfrm>
          <a:prstGeom prst="rect">
            <a:avLst/>
          </a:prstGeom>
          <a:noFill/>
          <a:ln>
            <a:noFill/>
          </a:ln>
        </p:spPr>
      </p:pic>
      <p:sp>
        <p:nvSpPr>
          <p:cNvPr id="98" name="Google Shape;98;p1"/>
          <p:cNvSpPr txBox="1"/>
          <p:nvPr>
            <p:ph type="ctrTitle"/>
          </p:nvPr>
        </p:nvSpPr>
        <p:spPr>
          <a:xfrm>
            <a:off x="1524000" y="1122362"/>
            <a:ext cx="9144000" cy="290051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000"/>
              <a:buFont typeface="ADLaM Display"/>
              <a:buNone/>
            </a:pPr>
            <a:r>
              <a:rPr lang="en-US">
                <a:solidFill>
                  <a:srgbClr val="FFFFFF"/>
                </a:solidFill>
                <a:latin typeface="ADLaM Display"/>
                <a:ea typeface="ADLaM Display"/>
                <a:cs typeface="ADLaM Display"/>
                <a:sym typeface="ADLaM Display"/>
              </a:rPr>
              <a:t>Spotify Tracks Data</a:t>
            </a:r>
            <a:endParaRPr/>
          </a:p>
        </p:txBody>
      </p:sp>
      <p:sp>
        <p:nvSpPr>
          <p:cNvPr id="99" name="Google Shape;99;p1"/>
          <p:cNvSpPr txBox="1"/>
          <p:nvPr>
            <p:ph idx="1" type="subTitle"/>
          </p:nvPr>
        </p:nvSpPr>
        <p:spPr>
          <a:xfrm>
            <a:off x="1524000" y="4159404"/>
            <a:ext cx="9144000" cy="109839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2400"/>
              <a:buNone/>
            </a:pPr>
            <a:r>
              <a:rPr lang="en-US">
                <a:solidFill>
                  <a:srgbClr val="FFFFFF"/>
                </a:solidFill>
                <a:latin typeface="ADLaM Display"/>
                <a:ea typeface="ADLaM Display"/>
                <a:cs typeface="ADLaM Display"/>
                <a:sym typeface="ADLaM Display"/>
              </a:rPr>
              <a:t>By: Ryan Nguyen</a:t>
            </a:r>
            <a:endParaRPr/>
          </a:p>
        </p:txBody>
      </p:sp>
      <p:pic>
        <p:nvPicPr>
          <p:cNvPr id="100" name="Google Shape;100;p1" title="DSC02974.jpeg"/>
          <p:cNvPicPr preferRelativeResize="0"/>
          <p:nvPr/>
        </p:nvPicPr>
        <p:blipFill>
          <a:blip r:embed="rId4">
            <a:alphaModFix/>
          </a:blip>
          <a:stretch>
            <a:fillRect/>
          </a:stretch>
        </p:blipFill>
        <p:spPr>
          <a:xfrm>
            <a:off x="8747771" y="5147671"/>
            <a:ext cx="2622075" cy="1472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98"/>
                                        </p:tgtEl>
                                        <p:attrNameLst>
                                          <p:attrName>style.visibility</p:attrName>
                                        </p:attrNameLst>
                                      </p:cBhvr>
                                      <p:to>
                                        <p:strVal val="visible"/>
                                      </p:to>
                                    </p:set>
                                    <p:animEffect filter="fade" transition="in">
                                      <p:cBhvr>
                                        <p:cTn dur="400"/>
                                        <p:tgtEl>
                                          <p:spTgt spid="98"/>
                                        </p:tgtEl>
                                      </p:cBhvr>
                                    </p:animEffect>
                                  </p:childTnLst>
                                </p:cTn>
                              </p:par>
                              <p:par>
                                <p:cTn fill="hold" nodeType="withEffect" presetClass="entr" presetID="10" presetSubtype="0">
                                  <p:stCondLst>
                                    <p:cond delay="2000"/>
                                  </p:stCondLst>
                                  <p:childTnLst>
                                    <p:set>
                                      <p:cBhvr>
                                        <p:cTn dur="1" fill="hold">
                                          <p:stCondLst>
                                            <p:cond delay="0"/>
                                          </p:stCondLst>
                                        </p:cTn>
                                        <p:tgtEl>
                                          <p:spTgt spid="99">
                                            <p:txEl>
                                              <p:pRg end="0" st="0"/>
                                            </p:txEl>
                                          </p:spTgt>
                                        </p:tgtEl>
                                        <p:attrNameLst>
                                          <p:attrName>style.visibility</p:attrName>
                                        </p:attrNameLst>
                                      </p:cBhvr>
                                      <p:to>
                                        <p:strVal val="visible"/>
                                      </p:to>
                                    </p:set>
                                    <p:animEffect filter="fade" transition="in">
                                      <p:cBhvr>
                                        <p:cTn dur="400"/>
                                        <p:tgtEl>
                                          <p:spTgt spid="9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2"/>
          <p:cNvSpPr txBox="1"/>
          <p:nvPr>
            <p:ph type="title"/>
          </p:nvPr>
        </p:nvSpPr>
        <p:spPr>
          <a:xfrm>
            <a:off x="481013" y="3752849"/>
            <a:ext cx="3290887" cy="245268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50000"/>
              </a:lnSpc>
              <a:spcBef>
                <a:spcPts val="0"/>
              </a:spcBef>
              <a:spcAft>
                <a:spcPts val="0"/>
              </a:spcAft>
              <a:buClr>
                <a:schemeClr val="dk1"/>
              </a:buClr>
              <a:buSzPct val="100000"/>
              <a:buFont typeface="ADLaM Display"/>
              <a:buNone/>
            </a:pPr>
            <a:r>
              <a:rPr lang="en-US" sz="3600">
                <a:latin typeface="ADLaM Display"/>
                <a:ea typeface="ADLaM Display"/>
                <a:cs typeface="ADLaM Display"/>
                <a:sym typeface="ADLaM Display"/>
              </a:rPr>
              <a:t>Problem &amp; Dataset:</a:t>
            </a:r>
            <a:endParaRPr sz="3600">
              <a:latin typeface="ADLaM Display"/>
              <a:ea typeface="ADLaM Display"/>
              <a:cs typeface="ADLaM Display"/>
              <a:sym typeface="ADLaM Display"/>
            </a:endParaRPr>
          </a:p>
          <a:p>
            <a:pPr indent="0" lvl="0" marL="0" rtl="0" algn="l">
              <a:lnSpc>
                <a:spcPct val="150000"/>
              </a:lnSpc>
              <a:spcBef>
                <a:spcPts val="0"/>
              </a:spcBef>
              <a:spcAft>
                <a:spcPts val="0"/>
              </a:spcAft>
              <a:buClr>
                <a:schemeClr val="dk1"/>
              </a:buClr>
              <a:buSzPct val="257143"/>
              <a:buFont typeface="ADLaM Display"/>
              <a:buNone/>
            </a:pPr>
            <a:r>
              <a:rPr lang="en-US" sz="1400">
                <a:latin typeface="ADLaM Display"/>
                <a:ea typeface="ADLaM Display"/>
                <a:cs typeface="ADLaM Display"/>
                <a:sym typeface="ADLaM Display"/>
              </a:rPr>
              <a:t>Decoding Music DNA: Multi-Label Genre affinity from Spotify Audio Features</a:t>
            </a:r>
            <a:endParaRPr sz="1400">
              <a:latin typeface="ADLaM Display"/>
              <a:ea typeface="ADLaM Display"/>
              <a:cs typeface="ADLaM Display"/>
              <a:sym typeface="ADLaM Display"/>
            </a:endParaRPr>
          </a:p>
        </p:txBody>
      </p:sp>
      <p:sp>
        <p:nvSpPr>
          <p:cNvPr id="106" name="Google Shape;106;p2"/>
          <p:cNvSpPr txBox="1"/>
          <p:nvPr>
            <p:ph idx="1" type="body"/>
          </p:nvPr>
        </p:nvSpPr>
        <p:spPr>
          <a:xfrm>
            <a:off x="4223982" y="3752850"/>
            <a:ext cx="7485413" cy="2452687"/>
          </a:xfrm>
          <a:prstGeom prst="rect">
            <a:avLst/>
          </a:prstGeom>
          <a:noFill/>
          <a:ln>
            <a:noFill/>
          </a:ln>
        </p:spPr>
        <p:txBody>
          <a:bodyPr anchorCtr="0" anchor="ctr" bIns="45700" lIns="91425" spcFirstLastPara="1" rIns="91425" wrap="square" tIns="45700">
            <a:normAutofit/>
          </a:bodyPr>
          <a:lstStyle/>
          <a:p>
            <a:pPr indent="-254000" lvl="0" marL="228600" rtl="0" algn="l">
              <a:lnSpc>
                <a:spcPct val="150000"/>
              </a:lnSpc>
              <a:spcBef>
                <a:spcPts val="1000"/>
              </a:spcBef>
              <a:spcAft>
                <a:spcPts val="0"/>
              </a:spcAft>
              <a:buClr>
                <a:schemeClr val="dk1"/>
              </a:buClr>
              <a:buSzPts val="2200"/>
              <a:buChar char="•"/>
            </a:pPr>
            <a:r>
              <a:rPr lang="en-US" sz="2200"/>
              <a:t>114,000 Spotify Tracks</a:t>
            </a:r>
            <a:endParaRPr sz="2200"/>
          </a:p>
          <a:p>
            <a:pPr indent="-254000" lvl="0" marL="228600" rtl="0" algn="l">
              <a:lnSpc>
                <a:spcPct val="150000"/>
              </a:lnSpc>
              <a:spcBef>
                <a:spcPts val="1000"/>
              </a:spcBef>
              <a:spcAft>
                <a:spcPts val="0"/>
              </a:spcAft>
              <a:buSzPts val="2200"/>
              <a:buChar char="•"/>
            </a:pPr>
            <a:r>
              <a:rPr lang="en-US" sz="2200"/>
              <a:t>114 noisy sub-genres mapped to 8 families</a:t>
            </a:r>
            <a:endParaRPr sz="2200"/>
          </a:p>
          <a:p>
            <a:pPr indent="-254000" lvl="0" marL="228600" rtl="0" algn="l">
              <a:lnSpc>
                <a:spcPct val="150000"/>
              </a:lnSpc>
              <a:spcBef>
                <a:spcPts val="1000"/>
              </a:spcBef>
              <a:spcAft>
                <a:spcPts val="0"/>
              </a:spcAft>
              <a:buSzPts val="2200"/>
              <a:buChar char="•"/>
            </a:pPr>
            <a:r>
              <a:rPr lang="en-US" sz="2200"/>
              <a:t>Goal: Test whether audio features support human genre labels</a:t>
            </a:r>
            <a:endParaRPr sz="2200"/>
          </a:p>
        </p:txBody>
      </p:sp>
      <p:pic>
        <p:nvPicPr>
          <p:cNvPr id="107" name="Google Shape;107;p2"/>
          <p:cNvPicPr preferRelativeResize="0"/>
          <p:nvPr/>
        </p:nvPicPr>
        <p:blipFill>
          <a:blip r:embed="rId3">
            <a:alphaModFix/>
          </a:blip>
          <a:stretch>
            <a:fillRect/>
          </a:stretch>
        </p:blipFill>
        <p:spPr>
          <a:xfrm>
            <a:off x="347681" y="556825"/>
            <a:ext cx="11361726" cy="3038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d9aa940fff_0_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200">
                <a:latin typeface="ADLaM Display"/>
                <a:ea typeface="ADLaM Display"/>
                <a:cs typeface="ADLaM Display"/>
                <a:sym typeface="ADLaM Display"/>
              </a:rPr>
              <a:t>Model Summary</a:t>
            </a:r>
            <a:endParaRPr sz="3200">
              <a:latin typeface="ADLaM Display"/>
              <a:ea typeface="ADLaM Display"/>
              <a:cs typeface="ADLaM Display"/>
              <a:sym typeface="ADLaM Display"/>
            </a:endParaRPr>
          </a:p>
        </p:txBody>
      </p:sp>
      <p:sp>
        <p:nvSpPr>
          <p:cNvPr id="113" name="Google Shape;113;g3d9aa940fff_0_1"/>
          <p:cNvSpPr txBox="1"/>
          <p:nvPr>
            <p:ph idx="1" type="body"/>
          </p:nvPr>
        </p:nvSpPr>
        <p:spPr>
          <a:xfrm>
            <a:off x="0" y="1690825"/>
            <a:ext cx="5420100" cy="4351200"/>
          </a:xfrm>
          <a:prstGeom prst="rect">
            <a:avLst/>
          </a:prstGeom>
        </p:spPr>
        <p:txBody>
          <a:bodyPr anchorCtr="0" anchor="t" bIns="45700" lIns="91425" spcFirstLastPara="1" rIns="91425" wrap="square" tIns="45700">
            <a:normAutofit/>
          </a:bodyPr>
          <a:lstStyle/>
          <a:p>
            <a:pPr indent="-292100" lvl="0" marL="457200" rtl="0" algn="l">
              <a:lnSpc>
                <a:spcPct val="150000"/>
              </a:lnSpc>
              <a:spcBef>
                <a:spcPts val="1000"/>
              </a:spcBef>
              <a:spcAft>
                <a:spcPts val="0"/>
              </a:spcAft>
              <a:buSzPts val="1000"/>
              <a:buChar char="•"/>
            </a:pPr>
            <a:r>
              <a:rPr lang="en-US" sz="2000"/>
              <a:t>12 raw features to 8 genre affinities</a:t>
            </a:r>
            <a:endParaRPr sz="2000"/>
          </a:p>
          <a:p>
            <a:pPr indent="-355600" lvl="0" marL="457200" rtl="0" algn="l">
              <a:lnSpc>
                <a:spcPct val="150000"/>
              </a:lnSpc>
              <a:spcBef>
                <a:spcPts val="0"/>
              </a:spcBef>
              <a:spcAft>
                <a:spcPts val="0"/>
              </a:spcAft>
              <a:buSzPts val="2000"/>
              <a:buChar char="•"/>
            </a:pPr>
            <a:r>
              <a:rPr lang="en-US" sz="2000"/>
              <a:t>512 nodes with high-capacity layer</a:t>
            </a:r>
            <a:endParaRPr sz="2000"/>
          </a:p>
          <a:p>
            <a:pPr indent="-355600" lvl="0" marL="457200" rtl="0" algn="l">
              <a:lnSpc>
                <a:spcPct val="150000"/>
              </a:lnSpc>
              <a:spcBef>
                <a:spcPts val="0"/>
              </a:spcBef>
              <a:spcAft>
                <a:spcPts val="0"/>
              </a:spcAft>
              <a:buSzPts val="2000"/>
              <a:buChar char="•"/>
            </a:pPr>
            <a:r>
              <a:rPr lang="en-US" sz="2000"/>
              <a:t>Batch Normalization</a:t>
            </a:r>
            <a:endParaRPr sz="2000"/>
          </a:p>
          <a:p>
            <a:pPr indent="-355600" lvl="0" marL="457200" rtl="0" algn="l">
              <a:lnSpc>
                <a:spcPct val="150000"/>
              </a:lnSpc>
              <a:spcBef>
                <a:spcPts val="0"/>
              </a:spcBef>
              <a:spcAft>
                <a:spcPts val="0"/>
              </a:spcAft>
              <a:buSzPts val="2000"/>
              <a:buChar char="•"/>
            </a:pPr>
            <a:r>
              <a:rPr lang="en-US" sz="2000"/>
              <a:t>Dropout (Primary Defense)</a:t>
            </a:r>
            <a:endParaRPr sz="2000"/>
          </a:p>
          <a:p>
            <a:pPr indent="-355600" lvl="0" marL="457200" rtl="0" algn="l">
              <a:lnSpc>
                <a:spcPct val="150000"/>
              </a:lnSpc>
              <a:spcBef>
                <a:spcPts val="0"/>
              </a:spcBef>
              <a:spcAft>
                <a:spcPts val="0"/>
              </a:spcAft>
              <a:buSzPts val="2000"/>
              <a:buChar char="•"/>
            </a:pPr>
            <a:r>
              <a:rPr lang="en-US" sz="2000"/>
              <a:t>Bottleneck (128 nodes)</a:t>
            </a:r>
            <a:endParaRPr sz="2000"/>
          </a:p>
          <a:p>
            <a:pPr indent="-355600" lvl="0" marL="457200" rtl="0" algn="l">
              <a:lnSpc>
                <a:spcPct val="150000"/>
              </a:lnSpc>
              <a:spcBef>
                <a:spcPts val="0"/>
              </a:spcBef>
              <a:spcAft>
                <a:spcPts val="0"/>
              </a:spcAft>
              <a:buSzPts val="2000"/>
              <a:buChar char="•"/>
            </a:pPr>
            <a:r>
              <a:rPr lang="en-US" sz="2000"/>
              <a:t>Parameters (knobs)</a:t>
            </a:r>
            <a:endParaRPr sz="2000"/>
          </a:p>
          <a:p>
            <a:pPr indent="-355600" lvl="0" marL="457200" rtl="0" algn="l">
              <a:lnSpc>
                <a:spcPct val="150000"/>
              </a:lnSpc>
              <a:spcBef>
                <a:spcPts val="0"/>
              </a:spcBef>
              <a:spcAft>
                <a:spcPts val="0"/>
              </a:spcAft>
              <a:buSzPts val="2000"/>
              <a:buChar char="•"/>
            </a:pPr>
            <a:r>
              <a:rPr lang="en-US" sz="2000"/>
              <a:t>Binary Focal Cross Entropy</a:t>
            </a:r>
            <a:endParaRPr sz="2000"/>
          </a:p>
        </p:txBody>
      </p:sp>
      <p:pic>
        <p:nvPicPr>
          <p:cNvPr id="114" name="Google Shape;114;g3d9aa940fff_0_1"/>
          <p:cNvPicPr preferRelativeResize="0"/>
          <p:nvPr/>
        </p:nvPicPr>
        <p:blipFill>
          <a:blip r:embed="rId3">
            <a:alphaModFix/>
          </a:blip>
          <a:stretch>
            <a:fillRect/>
          </a:stretch>
        </p:blipFill>
        <p:spPr>
          <a:xfrm>
            <a:off x="3672125" y="2581575"/>
            <a:ext cx="4259025" cy="3236850"/>
          </a:xfrm>
          <a:prstGeom prst="rect">
            <a:avLst/>
          </a:prstGeom>
          <a:noFill/>
          <a:ln>
            <a:noFill/>
          </a:ln>
        </p:spPr>
      </p:pic>
      <p:pic>
        <p:nvPicPr>
          <p:cNvPr id="115" name="Google Shape;115;g3d9aa940fff_0_1"/>
          <p:cNvPicPr preferRelativeResize="0"/>
          <p:nvPr/>
        </p:nvPicPr>
        <p:blipFill>
          <a:blip r:embed="rId4">
            <a:alphaModFix/>
          </a:blip>
          <a:stretch>
            <a:fillRect/>
          </a:stretch>
        </p:blipFill>
        <p:spPr>
          <a:xfrm>
            <a:off x="7931150" y="2104193"/>
            <a:ext cx="4023125" cy="412640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1" name="Google Shape;121;p3"/>
          <p:cNvSpPr/>
          <p:nvPr/>
        </p:nvSpPr>
        <p:spPr>
          <a:xfrm flipH="1">
            <a:off x="8576660" y="3335867"/>
            <a:ext cx="329190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2" name="Google Shape;122;p3"/>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3" name="Google Shape;123;p3"/>
          <p:cNvSpPr txBox="1"/>
          <p:nvPr>
            <p:ph type="title"/>
          </p:nvPr>
        </p:nvSpPr>
        <p:spPr>
          <a:xfrm>
            <a:off x="1289305" y="3415754"/>
            <a:ext cx="9471956" cy="11371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DLaM Display"/>
              <a:buNone/>
            </a:pPr>
            <a:r>
              <a:rPr lang="en-US" sz="3200">
                <a:latin typeface="ADLaM Display"/>
                <a:ea typeface="ADLaM Display"/>
                <a:cs typeface="ADLaM Display"/>
                <a:sym typeface="ADLaM Display"/>
              </a:rPr>
              <a:t>Data Pipeline and Mapping Transparency</a:t>
            </a:r>
            <a:endParaRPr sz="3200"/>
          </a:p>
        </p:txBody>
      </p:sp>
      <p:pic>
        <p:nvPicPr>
          <p:cNvPr id="124" name="Google Shape;124;p3"/>
          <p:cNvPicPr preferRelativeResize="0"/>
          <p:nvPr/>
        </p:nvPicPr>
        <p:blipFill rotWithShape="1">
          <a:blip r:embed="rId3">
            <a:alphaModFix/>
          </a:blip>
          <a:srcRect b="0" l="0" r="0" t="0"/>
          <a:stretch/>
        </p:blipFill>
        <p:spPr>
          <a:xfrm>
            <a:off x="3843775" y="5540325"/>
            <a:ext cx="5289874" cy="595100"/>
          </a:xfrm>
          <a:prstGeom prst="rect">
            <a:avLst/>
          </a:prstGeom>
          <a:noFill/>
          <a:ln>
            <a:noFill/>
          </a:ln>
        </p:spPr>
      </p:pic>
      <p:sp>
        <p:nvSpPr>
          <p:cNvPr id="125" name="Google Shape;125;p3"/>
          <p:cNvSpPr txBox="1"/>
          <p:nvPr>
            <p:ph idx="1" type="body"/>
          </p:nvPr>
        </p:nvSpPr>
        <p:spPr>
          <a:xfrm>
            <a:off x="1289300" y="4257125"/>
            <a:ext cx="9579900" cy="1764000"/>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1900"/>
              <a:buChar char="•"/>
            </a:pPr>
            <a:r>
              <a:rPr lang="en-US" sz="1900"/>
              <a:t>114 original Spotify sub-genres collapsed into 8 core families</a:t>
            </a:r>
            <a:endParaRPr sz="1900"/>
          </a:p>
          <a:p>
            <a:pPr indent="-228600" lvl="0" marL="228600" rtl="0" algn="l">
              <a:lnSpc>
                <a:spcPct val="150000"/>
              </a:lnSpc>
              <a:spcBef>
                <a:spcPts val="0"/>
              </a:spcBef>
              <a:spcAft>
                <a:spcPts val="0"/>
              </a:spcAft>
              <a:buSzPts val="1900"/>
              <a:buChar char="•"/>
            </a:pPr>
            <a:r>
              <a:rPr lang="en-US" sz="1900"/>
              <a:t>12 raw audio features used as model inputs</a:t>
            </a:r>
            <a:endParaRPr sz="1900"/>
          </a:p>
          <a:p>
            <a:pPr indent="-228600" lvl="0" marL="228600" rtl="0" algn="l">
              <a:lnSpc>
                <a:spcPct val="150000"/>
              </a:lnSpc>
              <a:spcBef>
                <a:spcPts val="0"/>
              </a:spcBef>
              <a:spcAft>
                <a:spcPts val="0"/>
              </a:spcAft>
              <a:buSzPts val="1900"/>
              <a:buChar char="•"/>
            </a:pPr>
            <a:r>
              <a:rPr lang="en-US" sz="1900"/>
              <a:t>Goal was interpretability and computational tractability</a:t>
            </a:r>
            <a:endParaRPr sz="1900"/>
          </a:p>
        </p:txBody>
      </p:sp>
      <p:pic>
        <p:nvPicPr>
          <p:cNvPr id="126" name="Google Shape;126;p3"/>
          <p:cNvPicPr preferRelativeResize="0"/>
          <p:nvPr/>
        </p:nvPicPr>
        <p:blipFill>
          <a:blip r:embed="rId4">
            <a:alphaModFix/>
          </a:blip>
          <a:stretch>
            <a:fillRect/>
          </a:stretch>
        </p:blipFill>
        <p:spPr>
          <a:xfrm>
            <a:off x="1583175" y="423070"/>
            <a:ext cx="9471951" cy="33284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d870af2223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ADLaM Display"/>
                <a:ea typeface="ADLaM Display"/>
                <a:cs typeface="ADLaM Display"/>
                <a:sym typeface="ADLaM Display"/>
              </a:rPr>
              <a:t>Architecture &amp; Timeline</a:t>
            </a:r>
            <a:endParaRPr>
              <a:latin typeface="ADLaM Display"/>
              <a:ea typeface="ADLaM Display"/>
              <a:cs typeface="ADLaM Display"/>
              <a:sym typeface="ADLaM Display"/>
            </a:endParaRPr>
          </a:p>
        </p:txBody>
      </p:sp>
      <p:sp>
        <p:nvSpPr>
          <p:cNvPr id="132" name="Google Shape;132;g3d870af2223_0_0"/>
          <p:cNvSpPr txBox="1"/>
          <p:nvPr>
            <p:ph idx="1" type="body"/>
          </p:nvPr>
        </p:nvSpPr>
        <p:spPr>
          <a:xfrm>
            <a:off x="838200" y="1825625"/>
            <a:ext cx="5314500" cy="4351200"/>
          </a:xfrm>
          <a:prstGeom prst="rect">
            <a:avLst/>
          </a:prstGeom>
        </p:spPr>
        <p:txBody>
          <a:bodyPr anchorCtr="0" anchor="t" bIns="45700" lIns="91425" spcFirstLastPara="1" rIns="91425" wrap="square" tIns="45700">
            <a:normAutofit/>
          </a:bodyPr>
          <a:lstStyle/>
          <a:p>
            <a:pPr indent="-342900" lvl="0" marL="457200" rtl="0" algn="l">
              <a:lnSpc>
                <a:spcPct val="150000"/>
              </a:lnSpc>
              <a:spcBef>
                <a:spcPts val="1000"/>
              </a:spcBef>
              <a:spcAft>
                <a:spcPts val="0"/>
              </a:spcAft>
              <a:buSzPts val="1800"/>
              <a:buChar char="•"/>
            </a:pPr>
            <a:r>
              <a:rPr lang="en-US"/>
              <a:t>Simulated 7-day deployment using batches from test set</a:t>
            </a:r>
            <a:endParaRPr/>
          </a:p>
          <a:p>
            <a:pPr indent="-342900" lvl="0" marL="457200" rtl="0" algn="l">
              <a:lnSpc>
                <a:spcPct val="150000"/>
              </a:lnSpc>
              <a:spcBef>
                <a:spcPts val="0"/>
              </a:spcBef>
              <a:spcAft>
                <a:spcPts val="0"/>
              </a:spcAft>
              <a:buSzPts val="1800"/>
              <a:buChar char="•"/>
            </a:pPr>
            <a:r>
              <a:rPr lang="en-US"/>
              <a:t>Steady Macro F1</a:t>
            </a:r>
            <a:endParaRPr/>
          </a:p>
          <a:p>
            <a:pPr indent="-342900" lvl="0" marL="457200" rtl="0" algn="l">
              <a:lnSpc>
                <a:spcPct val="150000"/>
              </a:lnSpc>
              <a:spcBef>
                <a:spcPts val="0"/>
              </a:spcBef>
              <a:spcAft>
                <a:spcPts val="0"/>
              </a:spcAft>
              <a:buSzPts val="1800"/>
              <a:buChar char="•"/>
            </a:pPr>
            <a:r>
              <a:rPr lang="en-US"/>
              <a:t>Generalized audio DNA &gt; Overfitting</a:t>
            </a:r>
            <a:endParaRPr/>
          </a:p>
        </p:txBody>
      </p:sp>
      <p:pic>
        <p:nvPicPr>
          <p:cNvPr id="133" name="Google Shape;133;g3d870af2223_0_0"/>
          <p:cNvPicPr preferRelativeResize="0"/>
          <p:nvPr/>
        </p:nvPicPr>
        <p:blipFill>
          <a:blip r:embed="rId3">
            <a:alphaModFix/>
          </a:blip>
          <a:stretch>
            <a:fillRect/>
          </a:stretch>
        </p:blipFill>
        <p:spPr>
          <a:xfrm>
            <a:off x="7035400" y="1388725"/>
            <a:ext cx="4039151" cy="2248749"/>
          </a:xfrm>
          <a:prstGeom prst="rect">
            <a:avLst/>
          </a:prstGeom>
          <a:noFill/>
          <a:ln>
            <a:noFill/>
          </a:ln>
        </p:spPr>
      </p:pic>
      <p:pic>
        <p:nvPicPr>
          <p:cNvPr id="134" name="Google Shape;134;g3d870af2223_0_0"/>
          <p:cNvPicPr preferRelativeResize="0"/>
          <p:nvPr/>
        </p:nvPicPr>
        <p:blipFill>
          <a:blip r:embed="rId4">
            <a:alphaModFix/>
          </a:blip>
          <a:stretch>
            <a:fillRect/>
          </a:stretch>
        </p:blipFill>
        <p:spPr>
          <a:xfrm>
            <a:off x="6998475" y="3637474"/>
            <a:ext cx="4113004" cy="2915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sz="3200">
                <a:latin typeface="ADLaM Display"/>
                <a:ea typeface="ADLaM Display"/>
                <a:cs typeface="ADLaM Display"/>
                <a:sym typeface="ADLaM Display"/>
              </a:rPr>
              <a:t>First failure - why 82% accuracy was misleading</a:t>
            </a:r>
            <a:endParaRPr sz="3200"/>
          </a:p>
        </p:txBody>
      </p:sp>
      <p:sp>
        <p:nvSpPr>
          <p:cNvPr id="140" name="Google Shape;140;p4"/>
          <p:cNvSpPr txBox="1"/>
          <p:nvPr>
            <p:ph idx="1" type="body"/>
          </p:nvPr>
        </p:nvSpPr>
        <p:spPr>
          <a:xfrm>
            <a:off x="838200" y="1253325"/>
            <a:ext cx="10515600" cy="1438200"/>
          </a:xfrm>
          <a:prstGeom prst="rect">
            <a:avLst/>
          </a:prstGeom>
          <a:noFill/>
          <a:ln>
            <a:noFill/>
          </a:ln>
        </p:spPr>
        <p:txBody>
          <a:bodyPr anchorCtr="0" anchor="t" bIns="45700" lIns="91425" spcFirstLastPara="1" rIns="91425" wrap="square" tIns="45700">
            <a:normAutofit/>
          </a:bodyPr>
          <a:lstStyle/>
          <a:p>
            <a:pPr indent="-114300" lvl="0" marL="228600" rtl="0" algn="l">
              <a:lnSpc>
                <a:spcPct val="90000"/>
              </a:lnSpc>
              <a:spcBef>
                <a:spcPts val="1000"/>
              </a:spcBef>
              <a:spcAft>
                <a:spcPts val="0"/>
              </a:spcAft>
              <a:buSzPts val="1000"/>
              <a:buChar char="•"/>
            </a:pPr>
            <a:r>
              <a:rPr lang="en-US" sz="2000"/>
              <a:t>Initial neural net reached ~ </a:t>
            </a:r>
            <a:r>
              <a:rPr lang="en-US" sz="2000" u="sng">
                <a:solidFill>
                  <a:schemeClr val="hlink"/>
                </a:solidFill>
                <a:hlinkClick r:id="rId3"/>
              </a:rPr>
              <a:t>82 % accuracy</a:t>
            </a:r>
            <a:endParaRPr sz="2000"/>
          </a:p>
          <a:p>
            <a:pPr indent="-177800" lvl="0" marL="228600" rtl="0" algn="l">
              <a:lnSpc>
                <a:spcPct val="90000"/>
              </a:lnSpc>
              <a:spcBef>
                <a:spcPts val="1000"/>
              </a:spcBef>
              <a:spcAft>
                <a:spcPts val="0"/>
              </a:spcAft>
              <a:buSzPts val="2000"/>
              <a:buChar char="•"/>
            </a:pPr>
            <a:r>
              <a:rPr lang="en-US" sz="2000"/>
              <a:t>Label permutation test exposed the problem</a:t>
            </a:r>
            <a:endParaRPr sz="2000"/>
          </a:p>
          <a:p>
            <a:pPr indent="-177800" lvl="0" marL="228600" rtl="0" algn="l">
              <a:lnSpc>
                <a:spcPct val="90000"/>
              </a:lnSpc>
              <a:spcBef>
                <a:spcPts val="1000"/>
              </a:spcBef>
              <a:spcAft>
                <a:spcPts val="0"/>
              </a:spcAft>
              <a:buSzPts val="2000"/>
              <a:buChar char="•"/>
            </a:pPr>
            <a:r>
              <a:rPr lang="en-US" sz="2000"/>
              <a:t>Model was exploiting imbalance, not learning signal</a:t>
            </a:r>
            <a:endParaRPr sz="2000"/>
          </a:p>
        </p:txBody>
      </p:sp>
      <p:pic>
        <p:nvPicPr>
          <p:cNvPr id="141" name="Google Shape;141;p4"/>
          <p:cNvPicPr preferRelativeResize="0"/>
          <p:nvPr/>
        </p:nvPicPr>
        <p:blipFill>
          <a:blip r:embed="rId4">
            <a:alphaModFix/>
          </a:blip>
          <a:stretch>
            <a:fillRect/>
          </a:stretch>
        </p:blipFill>
        <p:spPr>
          <a:xfrm>
            <a:off x="838200" y="2476975"/>
            <a:ext cx="3740226" cy="1749165"/>
          </a:xfrm>
          <a:prstGeom prst="rect">
            <a:avLst/>
          </a:prstGeom>
          <a:noFill/>
          <a:ln>
            <a:noFill/>
          </a:ln>
        </p:spPr>
      </p:pic>
      <p:pic>
        <p:nvPicPr>
          <p:cNvPr id="142" name="Google Shape;142;p4"/>
          <p:cNvPicPr preferRelativeResize="0"/>
          <p:nvPr/>
        </p:nvPicPr>
        <p:blipFill>
          <a:blip r:embed="rId5">
            <a:alphaModFix/>
          </a:blip>
          <a:stretch>
            <a:fillRect/>
          </a:stretch>
        </p:blipFill>
        <p:spPr>
          <a:xfrm>
            <a:off x="6495675" y="2892241"/>
            <a:ext cx="5455075" cy="3655210"/>
          </a:xfrm>
          <a:prstGeom prst="rect">
            <a:avLst/>
          </a:prstGeom>
          <a:noFill/>
          <a:ln>
            <a:noFill/>
          </a:ln>
        </p:spPr>
      </p:pic>
      <p:pic>
        <p:nvPicPr>
          <p:cNvPr id="143" name="Google Shape;143;p4"/>
          <p:cNvPicPr preferRelativeResize="0"/>
          <p:nvPr/>
        </p:nvPicPr>
        <p:blipFill>
          <a:blip r:embed="rId6">
            <a:alphaModFix/>
          </a:blip>
          <a:stretch>
            <a:fillRect/>
          </a:stretch>
        </p:blipFill>
        <p:spPr>
          <a:xfrm>
            <a:off x="838204" y="4701200"/>
            <a:ext cx="4337650" cy="2017325"/>
          </a:xfrm>
          <a:prstGeom prst="rect">
            <a:avLst/>
          </a:prstGeom>
          <a:noFill/>
          <a:ln>
            <a:noFill/>
          </a:ln>
        </p:spPr>
      </p:pic>
      <p:sp>
        <p:nvSpPr>
          <p:cNvPr id="144" name="Google Shape;144;p4"/>
          <p:cNvSpPr txBox="1"/>
          <p:nvPr>
            <p:ph idx="1" type="body"/>
          </p:nvPr>
        </p:nvSpPr>
        <p:spPr>
          <a:xfrm>
            <a:off x="4445475" y="2476975"/>
            <a:ext cx="2050200" cy="4863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1000"/>
              </a:spcBef>
              <a:spcAft>
                <a:spcPts val="0"/>
              </a:spcAft>
              <a:buNone/>
            </a:pPr>
            <a:r>
              <a:rPr b="1" lang="en-US" sz="2400"/>
              <a:t>Old Result:</a:t>
            </a:r>
            <a:endParaRPr b="1"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d6ffe41f67_0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200">
                <a:latin typeface="ADLaM Display"/>
                <a:ea typeface="ADLaM Display"/>
                <a:cs typeface="ADLaM Display"/>
                <a:sym typeface="ADLaM Display"/>
              </a:rPr>
              <a:t>New Result: with Sigmoid Multi (Binary Focal)</a:t>
            </a:r>
            <a:endParaRPr sz="3200">
              <a:latin typeface="ADLaM Display"/>
              <a:ea typeface="ADLaM Display"/>
              <a:cs typeface="ADLaM Display"/>
              <a:sym typeface="ADLaM Display"/>
            </a:endParaRPr>
          </a:p>
        </p:txBody>
      </p:sp>
      <p:pic>
        <p:nvPicPr>
          <p:cNvPr id="150" name="Google Shape;150;g3d6ffe41f67_0_6"/>
          <p:cNvPicPr preferRelativeResize="0"/>
          <p:nvPr/>
        </p:nvPicPr>
        <p:blipFill>
          <a:blip r:embed="rId3">
            <a:alphaModFix/>
          </a:blip>
          <a:stretch>
            <a:fillRect/>
          </a:stretch>
        </p:blipFill>
        <p:spPr>
          <a:xfrm>
            <a:off x="5534850" y="1903275"/>
            <a:ext cx="6493795" cy="4351199"/>
          </a:xfrm>
          <a:prstGeom prst="rect">
            <a:avLst/>
          </a:prstGeom>
          <a:noFill/>
          <a:ln>
            <a:noFill/>
          </a:ln>
        </p:spPr>
      </p:pic>
      <p:pic>
        <p:nvPicPr>
          <p:cNvPr id="151" name="Google Shape;151;g3d6ffe41f67_0_6"/>
          <p:cNvPicPr preferRelativeResize="0"/>
          <p:nvPr/>
        </p:nvPicPr>
        <p:blipFill>
          <a:blip r:embed="rId4">
            <a:alphaModFix/>
          </a:blip>
          <a:stretch>
            <a:fillRect/>
          </a:stretch>
        </p:blipFill>
        <p:spPr>
          <a:xfrm>
            <a:off x="533626" y="2070350"/>
            <a:ext cx="4616524" cy="2967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d6ffe41f67_0_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200">
                <a:latin typeface="ADLaM Display"/>
                <a:ea typeface="ADLaM Display"/>
                <a:cs typeface="ADLaM Display"/>
                <a:sym typeface="ADLaM Display"/>
              </a:rPr>
              <a:t>Why I pivoted from softmax to sigmoid</a:t>
            </a:r>
            <a:endParaRPr sz="3200">
              <a:latin typeface="ADLaM Display"/>
              <a:ea typeface="ADLaM Display"/>
              <a:cs typeface="ADLaM Display"/>
              <a:sym typeface="ADLaM Display"/>
            </a:endParaRPr>
          </a:p>
        </p:txBody>
      </p:sp>
      <p:sp>
        <p:nvSpPr>
          <p:cNvPr id="157" name="Google Shape;157;g3d6ffe41f67_0_1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68300" lvl="0" marL="457200" rtl="0" algn="l">
              <a:lnSpc>
                <a:spcPct val="150000"/>
              </a:lnSpc>
              <a:spcBef>
                <a:spcPts val="1000"/>
              </a:spcBef>
              <a:spcAft>
                <a:spcPts val="0"/>
              </a:spcAft>
              <a:buSzPts val="2200"/>
              <a:buChar char="•"/>
            </a:pPr>
            <a:r>
              <a:rPr lang="en-US" sz="2200"/>
              <a:t>Softmax forces one strict winning class</a:t>
            </a:r>
            <a:endParaRPr sz="2200"/>
          </a:p>
          <a:p>
            <a:pPr indent="-368300" lvl="0" marL="457200" rtl="0" algn="l">
              <a:lnSpc>
                <a:spcPct val="150000"/>
              </a:lnSpc>
              <a:spcBef>
                <a:spcPts val="0"/>
              </a:spcBef>
              <a:spcAft>
                <a:spcPts val="0"/>
              </a:spcAft>
              <a:buSzPts val="2200"/>
              <a:buChar char="•"/>
            </a:pPr>
            <a:r>
              <a:rPr lang="en-US" sz="2200"/>
              <a:t>Unsupervised plots showed overlap in audio space</a:t>
            </a:r>
            <a:endParaRPr sz="2200"/>
          </a:p>
          <a:p>
            <a:pPr indent="-368300" lvl="0" marL="457200" rtl="0" algn="l">
              <a:lnSpc>
                <a:spcPct val="150000"/>
              </a:lnSpc>
              <a:spcBef>
                <a:spcPts val="0"/>
              </a:spcBef>
              <a:spcAft>
                <a:spcPts val="0"/>
              </a:spcAft>
              <a:buSzPts val="2200"/>
              <a:buChar char="•"/>
            </a:pPr>
            <a:r>
              <a:rPr lang="en-US" sz="2200"/>
              <a:t>Sigmoid models genre as multi-family affinity</a:t>
            </a:r>
            <a:endParaRPr sz="2200"/>
          </a:p>
        </p:txBody>
      </p:sp>
      <p:pic>
        <p:nvPicPr>
          <p:cNvPr id="158" name="Google Shape;158;g3d6ffe41f67_0_16"/>
          <p:cNvPicPr preferRelativeResize="0"/>
          <p:nvPr/>
        </p:nvPicPr>
        <p:blipFill>
          <a:blip r:embed="rId3">
            <a:alphaModFix/>
          </a:blip>
          <a:stretch>
            <a:fillRect/>
          </a:stretch>
        </p:blipFill>
        <p:spPr>
          <a:xfrm>
            <a:off x="8791026" y="483400"/>
            <a:ext cx="3081701" cy="56934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d6bb8e3a94_0_23"/>
          <p:cNvSpPr txBox="1"/>
          <p:nvPr>
            <p:ph type="title"/>
          </p:nvPr>
        </p:nvSpPr>
        <p:spPr>
          <a:xfrm>
            <a:off x="839788" y="457200"/>
            <a:ext cx="3932100" cy="16002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latin typeface="ADLaM Display"/>
                <a:ea typeface="ADLaM Display"/>
                <a:cs typeface="ADLaM Display"/>
                <a:sym typeface="ADLaM Display"/>
              </a:rPr>
              <a:t>Unsupervised Evidence:</a:t>
            </a:r>
            <a:endParaRPr>
              <a:latin typeface="ADLaM Display"/>
              <a:ea typeface="ADLaM Display"/>
              <a:cs typeface="ADLaM Display"/>
              <a:sym typeface="ADLaM Display"/>
            </a:endParaRPr>
          </a:p>
          <a:p>
            <a:pPr indent="0" lvl="0" marL="0" rtl="0" algn="l">
              <a:spcBef>
                <a:spcPts val="0"/>
              </a:spcBef>
              <a:spcAft>
                <a:spcPts val="0"/>
              </a:spcAft>
              <a:buNone/>
            </a:pPr>
            <a:r>
              <a:t/>
            </a:r>
            <a:endParaRPr>
              <a:latin typeface="ADLaM Display"/>
              <a:ea typeface="ADLaM Display"/>
              <a:cs typeface="ADLaM Display"/>
              <a:sym typeface="ADLaM Display"/>
            </a:endParaRPr>
          </a:p>
        </p:txBody>
      </p:sp>
      <p:sp>
        <p:nvSpPr>
          <p:cNvPr id="164" name="Google Shape;164;g3d6bb8e3a94_0_23"/>
          <p:cNvSpPr txBox="1"/>
          <p:nvPr>
            <p:ph idx="2" type="body"/>
          </p:nvPr>
        </p:nvSpPr>
        <p:spPr>
          <a:xfrm>
            <a:off x="839788" y="2057400"/>
            <a:ext cx="3932100" cy="3811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1800"/>
              <a:t>Do genres naturally separate?</a:t>
            </a:r>
            <a:endParaRPr sz="1800"/>
          </a:p>
          <a:p>
            <a:pPr indent="-342900" lvl="0" marL="457200" rtl="0" algn="l">
              <a:spcBef>
                <a:spcPts val="1000"/>
              </a:spcBef>
              <a:spcAft>
                <a:spcPts val="0"/>
              </a:spcAft>
              <a:buSzPts val="1800"/>
              <a:buChar char="●"/>
            </a:pPr>
            <a:r>
              <a:rPr lang="en-US" sz="1800"/>
              <a:t>PCA/ K-means on raw audio</a:t>
            </a:r>
            <a:endParaRPr sz="1800"/>
          </a:p>
          <a:p>
            <a:pPr indent="-342900" lvl="0" marL="457200" rtl="0" algn="l">
              <a:spcBef>
                <a:spcPts val="0"/>
              </a:spcBef>
              <a:spcAft>
                <a:spcPts val="0"/>
              </a:spcAft>
              <a:buSzPts val="1800"/>
              <a:buChar char="●"/>
            </a:pPr>
            <a:r>
              <a:rPr lang="en-US" sz="1800"/>
              <a:t>t-SNE / latent-space visualization</a:t>
            </a:r>
            <a:endParaRPr sz="1800"/>
          </a:p>
        </p:txBody>
      </p:sp>
      <p:pic>
        <p:nvPicPr>
          <p:cNvPr id="165" name="Google Shape;165;g3d6bb8e3a94_0_23" title="kmeannaturalgrouping_unsupervised_PCAplot_cluster_part3.png"/>
          <p:cNvPicPr preferRelativeResize="0"/>
          <p:nvPr/>
        </p:nvPicPr>
        <p:blipFill>
          <a:blip r:embed="rId3">
            <a:alphaModFix/>
          </a:blip>
          <a:stretch>
            <a:fillRect/>
          </a:stretch>
        </p:blipFill>
        <p:spPr>
          <a:xfrm>
            <a:off x="5280501" y="3991100"/>
            <a:ext cx="6520451" cy="2419559"/>
          </a:xfrm>
          <a:prstGeom prst="rect">
            <a:avLst/>
          </a:prstGeom>
          <a:noFill/>
          <a:ln>
            <a:noFill/>
          </a:ln>
        </p:spPr>
      </p:pic>
      <p:pic>
        <p:nvPicPr>
          <p:cNvPr id="166" name="Google Shape;166;g3d6bb8e3a94_0_23" title="kmeannaturalgroup_unsupervised_PCAplot_part3.png"/>
          <p:cNvPicPr preferRelativeResize="0"/>
          <p:nvPr/>
        </p:nvPicPr>
        <p:blipFill>
          <a:blip r:embed="rId4">
            <a:alphaModFix/>
          </a:blip>
          <a:stretch>
            <a:fillRect/>
          </a:stretch>
        </p:blipFill>
        <p:spPr>
          <a:xfrm>
            <a:off x="5345174" y="957521"/>
            <a:ext cx="6520452" cy="2943000"/>
          </a:xfrm>
          <a:prstGeom prst="rect">
            <a:avLst/>
          </a:prstGeom>
          <a:noFill/>
          <a:ln>
            <a:noFill/>
          </a:ln>
        </p:spPr>
      </p:pic>
      <p:pic>
        <p:nvPicPr>
          <p:cNvPr id="167" name="Google Shape;167;g3d6bb8e3a94_0_23" title="unsupervisedlatentspace_tsneplot_part3_second.png"/>
          <p:cNvPicPr preferRelativeResize="0"/>
          <p:nvPr/>
        </p:nvPicPr>
        <p:blipFill>
          <a:blip r:embed="rId5">
            <a:alphaModFix/>
          </a:blip>
          <a:stretch>
            <a:fillRect/>
          </a:stretch>
        </p:blipFill>
        <p:spPr>
          <a:xfrm>
            <a:off x="312332" y="3320228"/>
            <a:ext cx="4864649" cy="2864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d6bb8e3a94_0_30"/>
          <p:cNvSpPr txBox="1"/>
          <p:nvPr>
            <p:ph type="title"/>
          </p:nvPr>
        </p:nvSpPr>
        <p:spPr>
          <a:xfrm>
            <a:off x="839788" y="457200"/>
            <a:ext cx="3932100" cy="16002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latin typeface="ADLaM Display"/>
                <a:ea typeface="ADLaM Display"/>
                <a:cs typeface="ADLaM Display"/>
                <a:sym typeface="ADLaM Display"/>
              </a:rPr>
              <a:t>Final Supervised Model and Training Behavior</a:t>
            </a:r>
            <a:endParaRPr>
              <a:latin typeface="ADLaM Display"/>
              <a:ea typeface="ADLaM Display"/>
              <a:cs typeface="ADLaM Display"/>
              <a:sym typeface="ADLaM Display"/>
            </a:endParaRPr>
          </a:p>
        </p:txBody>
      </p:sp>
      <p:sp>
        <p:nvSpPr>
          <p:cNvPr id="173" name="Google Shape;173;g3d6bb8e3a94_0_30"/>
          <p:cNvSpPr txBox="1"/>
          <p:nvPr>
            <p:ph idx="2" type="body"/>
          </p:nvPr>
        </p:nvSpPr>
        <p:spPr>
          <a:xfrm>
            <a:off x="839788" y="2057400"/>
            <a:ext cx="3932100" cy="3811500"/>
          </a:xfrm>
          <a:prstGeom prst="rect">
            <a:avLst/>
          </a:prstGeom>
        </p:spPr>
        <p:txBody>
          <a:bodyPr anchorCtr="0" anchor="t" bIns="45700" lIns="91425" spcFirstLastPara="1" rIns="91425" wrap="square" tIns="45700">
            <a:normAutofit/>
          </a:bodyPr>
          <a:lstStyle/>
          <a:p>
            <a:pPr indent="-342900" lvl="0" marL="457200" rtl="0" algn="l">
              <a:lnSpc>
                <a:spcPct val="150000"/>
              </a:lnSpc>
              <a:spcBef>
                <a:spcPts val="1000"/>
              </a:spcBef>
              <a:spcAft>
                <a:spcPts val="0"/>
              </a:spcAft>
              <a:buSzPts val="1800"/>
              <a:buChar char="●"/>
            </a:pPr>
            <a:r>
              <a:rPr lang="en-US" sz="1800"/>
              <a:t>Deep feedforward network</a:t>
            </a:r>
            <a:endParaRPr sz="1800"/>
          </a:p>
          <a:p>
            <a:pPr indent="-342900" lvl="0" marL="457200" rtl="0" algn="l">
              <a:lnSpc>
                <a:spcPct val="150000"/>
              </a:lnSpc>
              <a:spcBef>
                <a:spcPts val="0"/>
              </a:spcBef>
              <a:spcAft>
                <a:spcPts val="0"/>
              </a:spcAft>
              <a:buSzPts val="1800"/>
              <a:buChar char="●"/>
            </a:pPr>
            <a:r>
              <a:rPr lang="en-US" sz="1800"/>
              <a:t>Binary focal / weighted multi-label training</a:t>
            </a:r>
            <a:endParaRPr sz="1800"/>
          </a:p>
          <a:p>
            <a:pPr indent="-342900" lvl="0" marL="457200" rtl="0" algn="l">
              <a:lnSpc>
                <a:spcPct val="150000"/>
              </a:lnSpc>
              <a:spcBef>
                <a:spcPts val="0"/>
              </a:spcBef>
              <a:spcAft>
                <a:spcPts val="0"/>
              </a:spcAft>
              <a:buSzPts val="1800"/>
              <a:buChar char="●"/>
            </a:pPr>
            <a:r>
              <a:rPr lang="en-US" sz="1800"/>
              <a:t>Stable training over epochs</a:t>
            </a:r>
            <a:endParaRPr sz="1800"/>
          </a:p>
          <a:p>
            <a:pPr indent="-342900" lvl="0" marL="457200" rtl="0" algn="l">
              <a:lnSpc>
                <a:spcPct val="150000"/>
              </a:lnSpc>
              <a:spcBef>
                <a:spcPts val="0"/>
              </a:spcBef>
              <a:spcAft>
                <a:spcPts val="0"/>
              </a:spcAft>
              <a:buSzPts val="1800"/>
              <a:buChar char="●"/>
            </a:pPr>
            <a:r>
              <a:rPr lang="en-US" sz="1800"/>
              <a:t>Autoencoder on Latent Space shows more gap</a:t>
            </a:r>
            <a:endParaRPr sz="1800"/>
          </a:p>
          <a:p>
            <a:pPr indent="-342900" lvl="0" marL="457200" rtl="0" algn="l">
              <a:lnSpc>
                <a:spcPct val="150000"/>
              </a:lnSpc>
              <a:spcBef>
                <a:spcPts val="0"/>
              </a:spcBef>
              <a:spcAft>
                <a:spcPts val="0"/>
              </a:spcAft>
              <a:buSzPts val="1800"/>
              <a:buChar char="●"/>
            </a:pPr>
            <a:r>
              <a:rPr lang="en-US" sz="1800"/>
              <a:t>Higher chance of variation and accuracy</a:t>
            </a:r>
            <a:endParaRPr sz="1800"/>
          </a:p>
        </p:txBody>
      </p:sp>
      <p:pic>
        <p:nvPicPr>
          <p:cNvPr id="174" name="Google Shape;174;g3d6bb8e3a94_0_30"/>
          <p:cNvPicPr preferRelativeResize="0"/>
          <p:nvPr/>
        </p:nvPicPr>
        <p:blipFill>
          <a:blip r:embed="rId3">
            <a:alphaModFix/>
          </a:blip>
          <a:stretch>
            <a:fillRect/>
          </a:stretch>
        </p:blipFill>
        <p:spPr>
          <a:xfrm>
            <a:off x="4881725" y="2057400"/>
            <a:ext cx="6571668" cy="43663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3200">
                <a:latin typeface="ADLaM Display"/>
                <a:ea typeface="ADLaM Display"/>
                <a:cs typeface="ADLaM Display"/>
                <a:sym typeface="ADLaM Display"/>
              </a:rPr>
              <a:t>Final Metrics: Lower accuracy, better intelligence</a:t>
            </a:r>
            <a:endParaRPr sz="3200">
              <a:latin typeface="ADLaM Display"/>
              <a:ea typeface="ADLaM Display"/>
              <a:cs typeface="ADLaM Display"/>
              <a:sym typeface="ADLaM Display"/>
            </a:endParaRPr>
          </a:p>
        </p:txBody>
      </p:sp>
      <p:sp>
        <p:nvSpPr>
          <p:cNvPr id="180" name="Google Shape;180;p5"/>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p>
            <a:pPr indent="-368300" lvl="0" marL="457200" rtl="0" algn="l">
              <a:lnSpc>
                <a:spcPct val="150000"/>
              </a:lnSpc>
              <a:spcBef>
                <a:spcPts val="0"/>
              </a:spcBef>
              <a:spcAft>
                <a:spcPts val="0"/>
              </a:spcAft>
              <a:buSzPts val="2200"/>
              <a:buChar char="•"/>
            </a:pPr>
            <a:r>
              <a:rPr lang="en-US" sz="2200"/>
              <a:t>Accuracy: 0.43</a:t>
            </a:r>
            <a:endParaRPr sz="2200"/>
          </a:p>
          <a:p>
            <a:pPr indent="-368300" lvl="0" marL="457200" rtl="0" algn="l">
              <a:lnSpc>
                <a:spcPct val="150000"/>
              </a:lnSpc>
              <a:spcBef>
                <a:spcPts val="0"/>
              </a:spcBef>
              <a:spcAft>
                <a:spcPts val="0"/>
              </a:spcAft>
              <a:buSzPts val="2200"/>
              <a:buChar char="•"/>
            </a:pPr>
            <a:r>
              <a:rPr lang="en-US" sz="2200"/>
              <a:t>Permuted baseline: 0.25</a:t>
            </a:r>
            <a:endParaRPr sz="2200"/>
          </a:p>
          <a:p>
            <a:pPr indent="-368300" lvl="0" marL="457200" rtl="0" algn="l">
              <a:lnSpc>
                <a:spcPct val="150000"/>
              </a:lnSpc>
              <a:spcBef>
                <a:spcPts val="0"/>
              </a:spcBef>
              <a:spcAft>
                <a:spcPts val="0"/>
              </a:spcAft>
              <a:buSzPts val="2200"/>
              <a:buChar char="•"/>
            </a:pPr>
            <a:r>
              <a:rPr lang="en-US" sz="2200"/>
              <a:t>Macro F1: 0.44</a:t>
            </a:r>
            <a:endParaRPr sz="2200"/>
          </a:p>
          <a:p>
            <a:pPr indent="-368300" lvl="0" marL="457200" rtl="0" algn="l">
              <a:lnSpc>
                <a:spcPct val="150000"/>
              </a:lnSpc>
              <a:spcBef>
                <a:spcPts val="0"/>
              </a:spcBef>
              <a:spcAft>
                <a:spcPts val="0"/>
              </a:spcAft>
              <a:buSzPts val="2200"/>
              <a:buChar char="•"/>
            </a:pPr>
            <a:r>
              <a:rPr lang="en-US" sz="2200"/>
              <a:t>Weighted F1: 0.50</a:t>
            </a:r>
            <a:endParaRPr sz="2200"/>
          </a:p>
          <a:p>
            <a:pPr indent="-368300" lvl="0" marL="457200" rtl="0" algn="l">
              <a:lnSpc>
                <a:spcPct val="150000"/>
              </a:lnSpc>
              <a:spcBef>
                <a:spcPts val="0"/>
              </a:spcBef>
              <a:spcAft>
                <a:spcPts val="0"/>
              </a:spcAft>
              <a:buSzPts val="2200"/>
              <a:buChar char="•"/>
            </a:pPr>
            <a:r>
              <a:rPr lang="en-US" sz="2200"/>
              <a:t>Human labels are cultural</a:t>
            </a:r>
            <a:endParaRPr sz="2200"/>
          </a:p>
          <a:p>
            <a:pPr indent="-368300" lvl="0" marL="457200" rtl="0" algn="l">
              <a:lnSpc>
                <a:spcPct val="150000"/>
              </a:lnSpc>
              <a:spcBef>
                <a:spcPts val="0"/>
              </a:spcBef>
              <a:spcAft>
                <a:spcPts val="0"/>
              </a:spcAft>
              <a:buSzPts val="2200"/>
              <a:buChar char="•"/>
            </a:pPr>
            <a:r>
              <a:rPr lang="en-US" sz="2200"/>
              <a:t>Acoustic DNA is Universal</a:t>
            </a:r>
            <a:endParaRPr sz="2200"/>
          </a:p>
        </p:txBody>
      </p:sp>
      <p:pic>
        <p:nvPicPr>
          <p:cNvPr id="181" name="Google Shape;181;p5"/>
          <p:cNvPicPr preferRelativeResize="0"/>
          <p:nvPr/>
        </p:nvPicPr>
        <p:blipFill>
          <a:blip r:embed="rId3">
            <a:alphaModFix/>
          </a:blip>
          <a:stretch>
            <a:fillRect/>
          </a:stretch>
        </p:blipFill>
        <p:spPr>
          <a:xfrm>
            <a:off x="5576975" y="1825625"/>
            <a:ext cx="5867400" cy="1166018"/>
          </a:xfrm>
          <a:prstGeom prst="rect">
            <a:avLst/>
          </a:prstGeom>
          <a:noFill/>
          <a:ln>
            <a:noFill/>
          </a:ln>
        </p:spPr>
      </p:pic>
      <p:pic>
        <p:nvPicPr>
          <p:cNvPr id="182" name="Google Shape;182;p5"/>
          <p:cNvPicPr preferRelativeResize="0"/>
          <p:nvPr/>
        </p:nvPicPr>
        <p:blipFill>
          <a:blip r:embed="rId4">
            <a:alphaModFix/>
          </a:blip>
          <a:stretch>
            <a:fillRect/>
          </a:stretch>
        </p:blipFill>
        <p:spPr>
          <a:xfrm>
            <a:off x="6019800" y="2996574"/>
            <a:ext cx="3832874" cy="37090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d6bb8e3a94_0_0"/>
          <p:cNvSpPr txBox="1"/>
          <p:nvPr>
            <p:ph type="title"/>
          </p:nvPr>
        </p:nvSpPr>
        <p:spPr>
          <a:xfrm>
            <a:off x="839788"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200">
                <a:latin typeface="ADLaM Display"/>
                <a:ea typeface="ADLaM Display"/>
                <a:cs typeface="ADLaM Display"/>
                <a:sym typeface="ADLaM Display"/>
              </a:rPr>
              <a:t>Threshold tuning rescued minority classes</a:t>
            </a:r>
            <a:endParaRPr sz="3200">
              <a:latin typeface="ADLaM Display"/>
              <a:ea typeface="ADLaM Display"/>
              <a:cs typeface="ADLaM Display"/>
              <a:sym typeface="ADLaM Display"/>
            </a:endParaRPr>
          </a:p>
        </p:txBody>
      </p:sp>
      <p:sp>
        <p:nvSpPr>
          <p:cNvPr id="188" name="Google Shape;188;g3d6bb8e3a94_0_0"/>
          <p:cNvSpPr txBox="1"/>
          <p:nvPr>
            <p:ph idx="1" type="body"/>
          </p:nvPr>
        </p:nvSpPr>
        <p:spPr>
          <a:xfrm>
            <a:off x="839800" y="1690825"/>
            <a:ext cx="8838900" cy="2980500"/>
          </a:xfrm>
          <a:prstGeom prst="rect">
            <a:avLst/>
          </a:prstGeom>
        </p:spPr>
        <p:txBody>
          <a:bodyPr anchorCtr="0" anchor="t" bIns="45700" lIns="91425" spcFirstLastPara="1" rIns="91425" wrap="square" tIns="45700">
            <a:noAutofit/>
          </a:bodyPr>
          <a:lstStyle/>
          <a:p>
            <a:pPr indent="-342900" lvl="0" marL="457200" rtl="0" algn="l">
              <a:lnSpc>
                <a:spcPct val="150000"/>
              </a:lnSpc>
              <a:spcBef>
                <a:spcPts val="1000"/>
              </a:spcBef>
              <a:spcAft>
                <a:spcPts val="0"/>
              </a:spcAft>
              <a:buSzPts val="1800"/>
              <a:buChar char="●"/>
            </a:pPr>
            <a:r>
              <a:rPr lang="en-US" sz="1800"/>
              <a:t>0.5 threshold too blunt</a:t>
            </a:r>
            <a:endParaRPr sz="1800"/>
          </a:p>
          <a:p>
            <a:pPr indent="-342900" lvl="0" marL="457200" rtl="0" algn="l">
              <a:lnSpc>
                <a:spcPct val="150000"/>
              </a:lnSpc>
              <a:spcBef>
                <a:spcPts val="0"/>
              </a:spcBef>
              <a:spcAft>
                <a:spcPts val="0"/>
              </a:spcAft>
              <a:buSzPts val="1800"/>
              <a:buChar char="●"/>
            </a:pPr>
            <a:r>
              <a:rPr lang="en-US" sz="1800"/>
              <a:t>Tuned per- class thresholds on validation set</a:t>
            </a:r>
            <a:endParaRPr sz="1800"/>
          </a:p>
          <a:p>
            <a:pPr indent="-342900" lvl="0" marL="457200" rtl="0" algn="l">
              <a:lnSpc>
                <a:spcPct val="150000"/>
              </a:lnSpc>
              <a:spcBef>
                <a:spcPts val="0"/>
              </a:spcBef>
              <a:spcAft>
                <a:spcPts val="0"/>
              </a:spcAft>
              <a:buSzPts val="1800"/>
              <a:buChar char="●"/>
            </a:pPr>
            <a:r>
              <a:rPr lang="en-US" sz="1800"/>
              <a:t>Different families require different operating points</a:t>
            </a:r>
            <a:endParaRPr sz="1800"/>
          </a:p>
        </p:txBody>
      </p:sp>
      <p:pic>
        <p:nvPicPr>
          <p:cNvPr id="189" name="Google Shape;189;g3d6bb8e3a94_0_0"/>
          <p:cNvPicPr preferRelativeResize="0"/>
          <p:nvPr/>
        </p:nvPicPr>
        <p:blipFill>
          <a:blip r:embed="rId3">
            <a:alphaModFix/>
          </a:blip>
          <a:stretch>
            <a:fillRect/>
          </a:stretch>
        </p:blipFill>
        <p:spPr>
          <a:xfrm>
            <a:off x="7346850" y="1522600"/>
            <a:ext cx="4143550" cy="2361825"/>
          </a:xfrm>
          <a:prstGeom prst="rect">
            <a:avLst/>
          </a:prstGeom>
          <a:noFill/>
          <a:ln>
            <a:noFill/>
          </a:ln>
        </p:spPr>
      </p:pic>
      <p:pic>
        <p:nvPicPr>
          <p:cNvPr id="190" name="Google Shape;190;g3d6bb8e3a94_0_0"/>
          <p:cNvPicPr preferRelativeResize="0"/>
          <p:nvPr/>
        </p:nvPicPr>
        <p:blipFill>
          <a:blip r:embed="rId4">
            <a:alphaModFix/>
          </a:blip>
          <a:stretch>
            <a:fillRect/>
          </a:stretch>
        </p:blipFill>
        <p:spPr>
          <a:xfrm>
            <a:off x="839800" y="3128650"/>
            <a:ext cx="6312951" cy="313258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d6ffe41f67_0_29"/>
          <p:cNvSpPr txBox="1"/>
          <p:nvPr>
            <p:ph type="title"/>
          </p:nvPr>
        </p:nvSpPr>
        <p:spPr>
          <a:xfrm>
            <a:off x="839788"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200">
                <a:latin typeface="ADLaM Display"/>
                <a:ea typeface="ADLaM Display"/>
                <a:cs typeface="ADLaM Display"/>
                <a:sym typeface="ADLaM Display"/>
              </a:rPr>
              <a:t>SHAP: What the model is actually using</a:t>
            </a:r>
            <a:endParaRPr sz="3200">
              <a:latin typeface="ADLaM Display"/>
              <a:ea typeface="ADLaM Display"/>
              <a:cs typeface="ADLaM Display"/>
              <a:sym typeface="ADLaM Display"/>
            </a:endParaRPr>
          </a:p>
        </p:txBody>
      </p:sp>
      <p:sp>
        <p:nvSpPr>
          <p:cNvPr id="196" name="Google Shape;196;g3d6ffe41f67_0_29"/>
          <p:cNvSpPr txBox="1"/>
          <p:nvPr>
            <p:ph idx="1" type="body"/>
          </p:nvPr>
        </p:nvSpPr>
        <p:spPr>
          <a:xfrm>
            <a:off x="386913" y="1456313"/>
            <a:ext cx="5157900" cy="823800"/>
          </a:xfrm>
          <a:prstGeom prst="rect">
            <a:avLst/>
          </a:prstGeom>
        </p:spPr>
        <p:txBody>
          <a:bodyPr anchorCtr="0" anchor="b" bIns="45700" lIns="91425" spcFirstLastPara="1" rIns="91425" wrap="square" tIns="45700">
            <a:normAutofit/>
          </a:bodyPr>
          <a:lstStyle/>
          <a:p>
            <a:pPr indent="0" lvl="0" marL="0" rtl="0" algn="l">
              <a:spcBef>
                <a:spcPts val="1000"/>
              </a:spcBef>
              <a:spcAft>
                <a:spcPts val="0"/>
              </a:spcAft>
              <a:buNone/>
            </a:pPr>
            <a:r>
              <a:rPr lang="en-US"/>
              <a:t>Takeaways:</a:t>
            </a:r>
            <a:endParaRPr/>
          </a:p>
        </p:txBody>
      </p:sp>
      <p:sp>
        <p:nvSpPr>
          <p:cNvPr id="197" name="Google Shape;197;g3d6ffe41f67_0_29"/>
          <p:cNvSpPr txBox="1"/>
          <p:nvPr>
            <p:ph idx="2" type="body"/>
          </p:nvPr>
        </p:nvSpPr>
        <p:spPr>
          <a:xfrm>
            <a:off x="386913" y="2280125"/>
            <a:ext cx="5157900" cy="3684600"/>
          </a:xfrm>
          <a:prstGeom prst="rect">
            <a:avLst/>
          </a:prstGeom>
        </p:spPr>
        <p:txBody>
          <a:bodyPr anchorCtr="0" anchor="t" bIns="45700" lIns="91425" spcFirstLastPara="1" rIns="91425" wrap="square" tIns="45700">
            <a:normAutofit/>
          </a:bodyPr>
          <a:lstStyle/>
          <a:p>
            <a:pPr indent="-368300" lvl="0" marL="457200" rtl="0" algn="l">
              <a:lnSpc>
                <a:spcPct val="150000"/>
              </a:lnSpc>
              <a:spcBef>
                <a:spcPts val="1000"/>
              </a:spcBef>
              <a:spcAft>
                <a:spcPts val="0"/>
              </a:spcAft>
              <a:buSzPts val="2200"/>
              <a:buChar char="•"/>
            </a:pPr>
            <a:r>
              <a:rPr lang="en-US" sz="2200"/>
              <a:t>SHAP makes the model interpretable</a:t>
            </a:r>
            <a:endParaRPr sz="2200"/>
          </a:p>
          <a:p>
            <a:pPr indent="-368300" lvl="0" marL="457200" rtl="0" algn="l">
              <a:lnSpc>
                <a:spcPct val="150000"/>
              </a:lnSpc>
              <a:spcBef>
                <a:spcPts val="0"/>
              </a:spcBef>
              <a:spcAft>
                <a:spcPts val="0"/>
              </a:spcAft>
              <a:buSzPts val="2200"/>
              <a:buChar char="•"/>
            </a:pPr>
            <a:r>
              <a:rPr lang="en-US" sz="2200"/>
              <a:t>Acousticness, danceability, speechiness, energy are influential</a:t>
            </a:r>
            <a:endParaRPr sz="2200"/>
          </a:p>
          <a:p>
            <a:pPr indent="-368300" lvl="0" marL="457200" rtl="0" algn="l">
              <a:lnSpc>
                <a:spcPct val="150000"/>
              </a:lnSpc>
              <a:spcBef>
                <a:spcPts val="0"/>
              </a:spcBef>
              <a:spcAft>
                <a:spcPts val="0"/>
              </a:spcAft>
              <a:buSzPts val="2200"/>
              <a:buChar char="•"/>
            </a:pPr>
            <a:r>
              <a:rPr lang="en-US" sz="2200"/>
              <a:t>Model is using musical cues, not only distribution tricks</a:t>
            </a:r>
            <a:endParaRPr sz="2200"/>
          </a:p>
        </p:txBody>
      </p:sp>
      <p:pic>
        <p:nvPicPr>
          <p:cNvPr id="198" name="Google Shape;198;g3d6ffe41f67_0_29" title="shapplot_feature_part3.png"/>
          <p:cNvPicPr preferRelativeResize="0"/>
          <p:nvPr/>
        </p:nvPicPr>
        <p:blipFill>
          <a:blip r:embed="rId3">
            <a:alphaModFix/>
          </a:blip>
          <a:stretch>
            <a:fillRect/>
          </a:stretch>
        </p:blipFill>
        <p:spPr>
          <a:xfrm>
            <a:off x="5874575" y="1456325"/>
            <a:ext cx="5353775" cy="43276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g3d6ffe41f67_0_38" title="shapplot_acousticfolk_part3_second.png"/>
          <p:cNvPicPr preferRelativeResize="0"/>
          <p:nvPr/>
        </p:nvPicPr>
        <p:blipFill>
          <a:blip r:embed="rId3">
            <a:alphaModFix/>
          </a:blip>
          <a:stretch>
            <a:fillRect/>
          </a:stretch>
        </p:blipFill>
        <p:spPr>
          <a:xfrm>
            <a:off x="2443163" y="476250"/>
            <a:ext cx="7305675" cy="5905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d6ffe41f67_0_49"/>
          <p:cNvSpPr txBox="1"/>
          <p:nvPr>
            <p:ph type="title"/>
          </p:nvPr>
        </p:nvSpPr>
        <p:spPr>
          <a:xfrm>
            <a:off x="839788"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200">
                <a:latin typeface="ADLaM Display"/>
                <a:ea typeface="ADLaM Display"/>
                <a:cs typeface="ADLaM Display"/>
                <a:sym typeface="ADLaM Display"/>
              </a:rPr>
              <a:t>Music DNA and Hidden Gems</a:t>
            </a:r>
            <a:endParaRPr sz="3200">
              <a:latin typeface="ADLaM Display"/>
              <a:ea typeface="ADLaM Display"/>
              <a:cs typeface="ADLaM Display"/>
              <a:sym typeface="ADLaM Display"/>
            </a:endParaRPr>
          </a:p>
        </p:txBody>
      </p:sp>
      <p:sp>
        <p:nvSpPr>
          <p:cNvPr id="209" name="Google Shape;209;g3d6ffe41f67_0_49"/>
          <p:cNvSpPr txBox="1"/>
          <p:nvPr>
            <p:ph idx="1" type="body"/>
          </p:nvPr>
        </p:nvSpPr>
        <p:spPr>
          <a:xfrm>
            <a:off x="839788" y="1681163"/>
            <a:ext cx="5157900" cy="823800"/>
          </a:xfrm>
          <a:prstGeom prst="rect">
            <a:avLst/>
          </a:prstGeom>
        </p:spPr>
        <p:txBody>
          <a:bodyPr anchorCtr="0" anchor="b" bIns="45700" lIns="91425" spcFirstLastPara="1" rIns="91425" wrap="square" tIns="45700">
            <a:normAutofit/>
          </a:bodyPr>
          <a:lstStyle/>
          <a:p>
            <a:pPr indent="0" lvl="0" marL="0" rtl="0" algn="l">
              <a:spcBef>
                <a:spcPts val="1000"/>
              </a:spcBef>
              <a:spcAft>
                <a:spcPts val="0"/>
              </a:spcAft>
              <a:buNone/>
            </a:pPr>
            <a:r>
              <a:rPr lang="en-US"/>
              <a:t>Takeaways:</a:t>
            </a:r>
            <a:endParaRPr/>
          </a:p>
        </p:txBody>
      </p:sp>
      <p:sp>
        <p:nvSpPr>
          <p:cNvPr id="210" name="Google Shape;210;g3d6ffe41f67_0_49"/>
          <p:cNvSpPr txBox="1"/>
          <p:nvPr>
            <p:ph idx="2" type="body"/>
          </p:nvPr>
        </p:nvSpPr>
        <p:spPr>
          <a:xfrm>
            <a:off x="839788" y="2505075"/>
            <a:ext cx="5157900" cy="3684600"/>
          </a:xfrm>
          <a:prstGeom prst="rect">
            <a:avLst/>
          </a:prstGeom>
        </p:spPr>
        <p:txBody>
          <a:bodyPr anchorCtr="0" anchor="t" bIns="45700" lIns="91425" spcFirstLastPara="1" rIns="91425" wrap="square" tIns="45700">
            <a:normAutofit/>
          </a:bodyPr>
          <a:lstStyle/>
          <a:p>
            <a:pPr indent="-368300" lvl="0" marL="457200" rtl="0" algn="l">
              <a:lnSpc>
                <a:spcPct val="150000"/>
              </a:lnSpc>
              <a:spcBef>
                <a:spcPts val="1000"/>
              </a:spcBef>
              <a:spcAft>
                <a:spcPts val="0"/>
              </a:spcAft>
              <a:buSzPts val="2200"/>
              <a:buChar char="•"/>
            </a:pPr>
            <a:r>
              <a:rPr lang="en-US" sz="2200"/>
              <a:t>Genre not just a label; it is a profile</a:t>
            </a:r>
            <a:endParaRPr sz="2200"/>
          </a:p>
          <a:p>
            <a:pPr indent="-368300" lvl="0" marL="457200" rtl="0" algn="l">
              <a:lnSpc>
                <a:spcPct val="150000"/>
              </a:lnSpc>
              <a:spcBef>
                <a:spcPts val="0"/>
              </a:spcBef>
              <a:spcAft>
                <a:spcPts val="0"/>
              </a:spcAft>
              <a:buSzPts val="2200"/>
              <a:buChar char="•"/>
            </a:pPr>
            <a:r>
              <a:rPr lang="en-US" sz="2200"/>
              <a:t>Song #42: </a:t>
            </a:r>
            <a:r>
              <a:rPr lang="en-US" sz="2200"/>
              <a:t>actual</a:t>
            </a:r>
            <a:r>
              <a:rPr lang="en-US" sz="2200"/>
              <a:t> = Blues/Jazz</a:t>
            </a:r>
            <a:endParaRPr sz="2200"/>
          </a:p>
          <a:p>
            <a:pPr indent="-368300" lvl="0" marL="457200" rtl="0" algn="l">
              <a:lnSpc>
                <a:spcPct val="150000"/>
              </a:lnSpc>
              <a:spcBef>
                <a:spcPts val="0"/>
              </a:spcBef>
              <a:spcAft>
                <a:spcPts val="0"/>
              </a:spcAft>
              <a:buSzPts val="2200"/>
              <a:buChar char="•"/>
            </a:pPr>
            <a:r>
              <a:rPr lang="en-US" sz="2200"/>
              <a:t>Model detects overlapping Electronic and Pop characteristics</a:t>
            </a:r>
            <a:endParaRPr sz="2200"/>
          </a:p>
        </p:txBody>
      </p:sp>
      <p:pic>
        <p:nvPicPr>
          <p:cNvPr id="211" name="Google Shape;211;g3d6ffe41f67_0_49"/>
          <p:cNvPicPr preferRelativeResize="0"/>
          <p:nvPr/>
        </p:nvPicPr>
        <p:blipFill>
          <a:blip r:embed="rId3">
            <a:alphaModFix/>
          </a:blip>
          <a:stretch>
            <a:fillRect/>
          </a:stretch>
        </p:blipFill>
        <p:spPr>
          <a:xfrm>
            <a:off x="6006124" y="1325625"/>
            <a:ext cx="5434801" cy="2931500"/>
          </a:xfrm>
          <a:prstGeom prst="rect">
            <a:avLst/>
          </a:prstGeom>
          <a:noFill/>
          <a:ln>
            <a:noFill/>
          </a:ln>
        </p:spPr>
      </p:pic>
      <p:pic>
        <p:nvPicPr>
          <p:cNvPr id="212" name="Google Shape;212;g3d6ffe41f67_0_49"/>
          <p:cNvPicPr preferRelativeResize="0"/>
          <p:nvPr/>
        </p:nvPicPr>
        <p:blipFill>
          <a:blip r:embed="rId4">
            <a:alphaModFix/>
          </a:blip>
          <a:stretch>
            <a:fillRect/>
          </a:stretch>
        </p:blipFill>
        <p:spPr>
          <a:xfrm>
            <a:off x="6146275" y="4399474"/>
            <a:ext cx="5154497" cy="2077375"/>
          </a:xfrm>
          <a:prstGeom prst="rect">
            <a:avLst/>
          </a:prstGeom>
          <a:noFill/>
          <a:ln>
            <a:noFill/>
          </a:ln>
        </p:spPr>
      </p:pic>
      <p:pic>
        <p:nvPicPr>
          <p:cNvPr id="213" name="Google Shape;213;g3d6ffe41f67_0_49"/>
          <p:cNvPicPr preferRelativeResize="0"/>
          <p:nvPr/>
        </p:nvPicPr>
        <p:blipFill>
          <a:blip r:embed="rId5">
            <a:alphaModFix/>
          </a:blip>
          <a:stretch>
            <a:fillRect/>
          </a:stretch>
        </p:blipFill>
        <p:spPr>
          <a:xfrm>
            <a:off x="1600225" y="4399479"/>
            <a:ext cx="4397473" cy="2077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d6bb8e3a94_0_52"/>
          <p:cNvSpPr txBox="1"/>
          <p:nvPr>
            <p:ph type="title"/>
          </p:nvPr>
        </p:nvSpPr>
        <p:spPr>
          <a:xfrm>
            <a:off x="839788"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200">
                <a:latin typeface="ADLaM Display"/>
                <a:ea typeface="ADLaM Display"/>
                <a:cs typeface="ADLaM Display"/>
                <a:sym typeface="ADLaM Display"/>
              </a:rPr>
              <a:t>Limitations and Future Steps</a:t>
            </a:r>
            <a:endParaRPr sz="3200">
              <a:latin typeface="ADLaM Display"/>
              <a:ea typeface="ADLaM Display"/>
              <a:cs typeface="ADLaM Display"/>
              <a:sym typeface="ADLaM Display"/>
            </a:endParaRPr>
          </a:p>
        </p:txBody>
      </p:sp>
      <p:sp>
        <p:nvSpPr>
          <p:cNvPr id="219" name="Google Shape;219;g3d6bb8e3a94_0_52"/>
          <p:cNvSpPr txBox="1"/>
          <p:nvPr>
            <p:ph idx="1" type="body"/>
          </p:nvPr>
        </p:nvSpPr>
        <p:spPr>
          <a:xfrm>
            <a:off x="839788" y="1681163"/>
            <a:ext cx="5157900" cy="823800"/>
          </a:xfrm>
          <a:prstGeom prst="rect">
            <a:avLst/>
          </a:prstGeom>
        </p:spPr>
        <p:txBody>
          <a:bodyPr anchorCtr="0" anchor="b" bIns="45700" lIns="91425" spcFirstLastPara="1" rIns="91425" wrap="square" tIns="45700">
            <a:normAutofit/>
          </a:bodyPr>
          <a:lstStyle/>
          <a:p>
            <a:pPr indent="0" lvl="0" marL="0" rtl="0" algn="l">
              <a:spcBef>
                <a:spcPts val="1000"/>
              </a:spcBef>
              <a:spcAft>
                <a:spcPts val="0"/>
              </a:spcAft>
              <a:buNone/>
            </a:pPr>
            <a:r>
              <a:rPr lang="en-US"/>
              <a:t>Cons:</a:t>
            </a:r>
            <a:endParaRPr/>
          </a:p>
        </p:txBody>
      </p:sp>
      <p:sp>
        <p:nvSpPr>
          <p:cNvPr id="220" name="Google Shape;220;g3d6bb8e3a94_0_52"/>
          <p:cNvSpPr txBox="1"/>
          <p:nvPr>
            <p:ph idx="2" type="body"/>
          </p:nvPr>
        </p:nvSpPr>
        <p:spPr>
          <a:xfrm>
            <a:off x="839788" y="2505075"/>
            <a:ext cx="5157900" cy="3684600"/>
          </a:xfrm>
          <a:prstGeom prst="rect">
            <a:avLst/>
          </a:prstGeom>
        </p:spPr>
        <p:txBody>
          <a:bodyPr anchorCtr="0" anchor="t" bIns="45700" lIns="91425" spcFirstLastPara="1" rIns="91425" wrap="square" tIns="45700">
            <a:normAutofit/>
          </a:bodyPr>
          <a:lstStyle/>
          <a:p>
            <a:pPr indent="-304800" lvl="0" marL="457200" rtl="0" algn="l">
              <a:lnSpc>
                <a:spcPct val="150000"/>
              </a:lnSpc>
              <a:spcBef>
                <a:spcPts val="1000"/>
              </a:spcBef>
              <a:spcAft>
                <a:spcPts val="0"/>
              </a:spcAft>
              <a:buSzPts val="1200"/>
              <a:buChar char="•"/>
            </a:pPr>
            <a:r>
              <a:rPr lang="en-US" sz="2200"/>
              <a:t>Weak taxonomy (imperfect)</a:t>
            </a:r>
            <a:endParaRPr sz="2200"/>
          </a:p>
          <a:p>
            <a:pPr indent="-304800" lvl="0" marL="457200" rtl="0" algn="l">
              <a:lnSpc>
                <a:spcPct val="150000"/>
              </a:lnSpc>
              <a:spcBef>
                <a:spcPts val="0"/>
              </a:spcBef>
              <a:spcAft>
                <a:spcPts val="0"/>
              </a:spcAft>
              <a:buSzPts val="1200"/>
              <a:buChar char="•"/>
            </a:pPr>
            <a:r>
              <a:rPr lang="en-US" sz="2200"/>
              <a:t>Label noise</a:t>
            </a:r>
            <a:endParaRPr sz="2200"/>
          </a:p>
          <a:p>
            <a:pPr indent="-304800" lvl="0" marL="457200" rtl="0" algn="l">
              <a:lnSpc>
                <a:spcPct val="150000"/>
              </a:lnSpc>
              <a:spcBef>
                <a:spcPts val="0"/>
              </a:spcBef>
              <a:spcAft>
                <a:spcPts val="0"/>
              </a:spcAft>
              <a:buSzPts val="1200"/>
              <a:buChar char="•"/>
            </a:pPr>
            <a:r>
              <a:rPr lang="en-US" sz="2200"/>
              <a:t>Heavy Other/Indie bucket</a:t>
            </a:r>
            <a:endParaRPr sz="2200"/>
          </a:p>
          <a:p>
            <a:pPr indent="-304800" lvl="0" marL="457200" rtl="0" algn="l">
              <a:lnSpc>
                <a:spcPct val="150000"/>
              </a:lnSpc>
              <a:spcBef>
                <a:spcPts val="0"/>
              </a:spcBef>
              <a:spcAft>
                <a:spcPts val="0"/>
              </a:spcAft>
              <a:buSzPts val="1200"/>
              <a:buChar char="•"/>
            </a:pPr>
            <a:r>
              <a:rPr lang="en-US" sz="2200"/>
              <a:t>Audio features alone may not fully capture genre</a:t>
            </a:r>
            <a:endParaRPr sz="2200"/>
          </a:p>
          <a:p>
            <a:pPr indent="-368300" lvl="0" marL="457200" rtl="0" algn="l">
              <a:lnSpc>
                <a:spcPct val="150000"/>
              </a:lnSpc>
              <a:spcBef>
                <a:spcPts val="0"/>
              </a:spcBef>
              <a:spcAft>
                <a:spcPts val="0"/>
              </a:spcAft>
              <a:buSzPts val="2200"/>
              <a:buChar char="•"/>
            </a:pPr>
            <a:r>
              <a:rPr lang="en-US" sz="2200"/>
              <a:t>Unmapped sub-genres</a:t>
            </a:r>
            <a:endParaRPr sz="2200"/>
          </a:p>
        </p:txBody>
      </p:sp>
      <p:sp>
        <p:nvSpPr>
          <p:cNvPr id="221" name="Google Shape;221;g3d6bb8e3a94_0_52"/>
          <p:cNvSpPr txBox="1"/>
          <p:nvPr>
            <p:ph idx="3" type="body"/>
          </p:nvPr>
        </p:nvSpPr>
        <p:spPr>
          <a:xfrm>
            <a:off x="6172200" y="1681163"/>
            <a:ext cx="5183100" cy="823800"/>
          </a:xfrm>
          <a:prstGeom prst="rect">
            <a:avLst/>
          </a:prstGeom>
        </p:spPr>
        <p:txBody>
          <a:bodyPr anchorCtr="0" anchor="b" bIns="45700" lIns="91425" spcFirstLastPara="1" rIns="91425" wrap="square" tIns="45700">
            <a:normAutofit/>
          </a:bodyPr>
          <a:lstStyle/>
          <a:p>
            <a:pPr indent="0" lvl="0" marL="0" rtl="0" algn="l">
              <a:spcBef>
                <a:spcPts val="1000"/>
              </a:spcBef>
              <a:spcAft>
                <a:spcPts val="0"/>
              </a:spcAft>
              <a:buNone/>
            </a:pPr>
            <a:r>
              <a:rPr lang="en-US"/>
              <a:t>Conclusion</a:t>
            </a:r>
            <a:endParaRPr/>
          </a:p>
        </p:txBody>
      </p:sp>
      <p:sp>
        <p:nvSpPr>
          <p:cNvPr id="222" name="Google Shape;222;g3d6bb8e3a94_0_52"/>
          <p:cNvSpPr txBox="1"/>
          <p:nvPr>
            <p:ph idx="4" type="body"/>
          </p:nvPr>
        </p:nvSpPr>
        <p:spPr>
          <a:xfrm>
            <a:off x="6172200" y="2505075"/>
            <a:ext cx="5183100" cy="3684600"/>
          </a:xfrm>
          <a:prstGeom prst="rect">
            <a:avLst/>
          </a:prstGeom>
        </p:spPr>
        <p:txBody>
          <a:bodyPr anchorCtr="0" anchor="t" bIns="45700" lIns="91425" spcFirstLastPara="1" rIns="91425" wrap="square" tIns="45700">
            <a:normAutofit/>
          </a:bodyPr>
          <a:lstStyle/>
          <a:p>
            <a:pPr indent="-369888" lvl="0" marL="457200" rtl="0" algn="l">
              <a:lnSpc>
                <a:spcPct val="140000"/>
              </a:lnSpc>
              <a:spcBef>
                <a:spcPts val="1000"/>
              </a:spcBef>
              <a:spcAft>
                <a:spcPts val="0"/>
              </a:spcAft>
              <a:buSzPts val="2225"/>
              <a:buChar char="•"/>
            </a:pPr>
            <a:r>
              <a:rPr lang="en-US" sz="2225"/>
              <a:t>Class-specific SHAP</a:t>
            </a:r>
            <a:endParaRPr sz="2225"/>
          </a:p>
          <a:p>
            <a:pPr indent="-369888" lvl="0" marL="457200" rtl="0" algn="l">
              <a:lnSpc>
                <a:spcPct val="140000"/>
              </a:lnSpc>
              <a:spcBef>
                <a:spcPts val="0"/>
              </a:spcBef>
              <a:spcAft>
                <a:spcPts val="0"/>
              </a:spcAft>
              <a:buSzPts val="2225"/>
              <a:buChar char="•"/>
            </a:pPr>
            <a:r>
              <a:rPr lang="en-US" sz="2225"/>
              <a:t>Better label engineering</a:t>
            </a:r>
            <a:endParaRPr sz="2225"/>
          </a:p>
          <a:p>
            <a:pPr indent="-369888" lvl="0" marL="457200" rtl="0" algn="l">
              <a:lnSpc>
                <a:spcPct val="140000"/>
              </a:lnSpc>
              <a:spcBef>
                <a:spcPts val="0"/>
              </a:spcBef>
              <a:spcAft>
                <a:spcPts val="0"/>
              </a:spcAft>
              <a:buSzPts val="2225"/>
              <a:buChar char="•"/>
            </a:pPr>
            <a:r>
              <a:rPr lang="en-US" sz="2225"/>
              <a:t>Embedding-based classifier</a:t>
            </a:r>
            <a:endParaRPr sz="2225"/>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91414"/>
            </a:gs>
            <a:gs pos="100000">
              <a:srgbClr val="1DB954"/>
            </a:gs>
          </a:gsLst>
          <a:lin ang="5400000" scaled="0"/>
        </a:gradFill>
      </p:bgPr>
    </p:bg>
    <p:spTree>
      <p:nvGrpSpPr>
        <p:cNvPr id="226" name="Shape 226"/>
        <p:cNvGrpSpPr/>
        <p:nvPr/>
      </p:nvGrpSpPr>
      <p:grpSpPr>
        <a:xfrm>
          <a:off x="0" y="0"/>
          <a:ext cx="0" cy="0"/>
          <a:chOff x="0" y="0"/>
          <a:chExt cx="0" cy="0"/>
        </a:xfrm>
      </p:grpSpPr>
      <p:sp>
        <p:nvSpPr>
          <p:cNvPr id="227" name="Google Shape;227;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Questions?</a:t>
            </a:r>
            <a:endParaRPr/>
          </a:p>
        </p:txBody>
      </p:sp>
      <p:sp>
        <p:nvSpPr>
          <p:cNvPr id="228" name="Google Shape;228;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u="sng">
                <a:solidFill>
                  <a:schemeClr val="hlink"/>
                </a:solidFill>
                <a:highlight>
                  <a:srgbClr val="C9DAF8"/>
                </a:highlight>
                <a:hlinkClick r:id="rId3"/>
              </a:rPr>
              <a:t>Code Link</a:t>
            </a:r>
            <a:endParaRPr>
              <a:highlight>
                <a:srgbClr val="C9DAF8"/>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2026-04-14T04:49:11Z</dcterms:created>
  <dc:creator>Ryan Nguyen</dc:creator>
</cp:coreProperties>
</file>